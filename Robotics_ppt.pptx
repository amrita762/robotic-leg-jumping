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30"/>
  </p:notesMasterIdLst>
  <p:sldIdLst>
    <p:sldId id="256" r:id="rId2"/>
    <p:sldId id="257" r:id="rId3"/>
    <p:sldId id="342" r:id="rId4"/>
    <p:sldId id="343" r:id="rId5"/>
    <p:sldId id="298" r:id="rId6"/>
    <p:sldId id="259" r:id="rId7"/>
    <p:sldId id="344" r:id="rId8"/>
    <p:sldId id="287" r:id="rId9"/>
    <p:sldId id="281" r:id="rId10"/>
    <p:sldId id="345" r:id="rId11"/>
    <p:sldId id="346" r:id="rId12"/>
    <p:sldId id="348" r:id="rId13"/>
    <p:sldId id="316" r:id="rId14"/>
    <p:sldId id="349" r:id="rId15"/>
    <p:sldId id="318" r:id="rId16"/>
    <p:sldId id="350" r:id="rId17"/>
    <p:sldId id="314" r:id="rId18"/>
    <p:sldId id="319" r:id="rId19"/>
    <p:sldId id="325" r:id="rId20"/>
    <p:sldId id="315" r:id="rId21"/>
    <p:sldId id="317" r:id="rId22"/>
    <p:sldId id="341" r:id="rId23"/>
    <p:sldId id="331" r:id="rId24"/>
    <p:sldId id="333" r:id="rId25"/>
    <p:sldId id="337" r:id="rId26"/>
    <p:sldId id="338" r:id="rId27"/>
    <p:sldId id="339" r:id="rId28"/>
    <p:sldId id="351"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60"/>
  </p:normalViewPr>
  <p:slideViewPr>
    <p:cSldViewPr>
      <p:cViewPr varScale="1">
        <p:scale>
          <a:sx n="69" d="100"/>
          <a:sy n="69" d="100"/>
        </p:scale>
        <p:origin x="1428"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5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CC2CF1-702E-4411-B055-6EFE38FA71CB}" type="datetimeFigureOut">
              <a:rPr lang="en-US" smtClean="0"/>
              <a:pPr/>
              <a:t>11/1/2024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9E04B2D-EA19-47DB-8848-B1C182CD6A25}" type="slidenum">
              <a:rPr lang="en-US" smtClean="0"/>
              <a:pPr/>
              <a:t>‹#›</a:t>
            </a:fld>
            <a:endParaRPr lang="en-US"/>
          </a:p>
        </p:txBody>
      </p:sp>
    </p:spTree>
    <p:extLst>
      <p:ext uri="{BB962C8B-B14F-4D97-AF65-F5344CB8AC3E}">
        <p14:creationId xmlns:p14="http://schemas.microsoft.com/office/powerpoint/2010/main" val="2972033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9E04B2D-EA19-47DB-8848-B1C182CD6A25}"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BFA65AAA-E049-4D06-B0C3-0E1D430B409E}" type="datetimeFigureOut">
              <a:rPr lang="en-US" smtClean="0"/>
              <a:pPr/>
              <a:t>11/1/2024</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C1A6578E-E6EE-4D94-BF71-ADC7ED34542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BFA65AAA-E049-4D06-B0C3-0E1D430B409E}" type="datetimeFigureOut">
              <a:rPr lang="en-US" smtClean="0"/>
              <a:pPr/>
              <a:t>11/1/2024</a:t>
            </a:fld>
            <a:endParaRPr lang="en-US"/>
          </a:p>
        </p:txBody>
      </p:sp>
      <p:sp>
        <p:nvSpPr>
          <p:cNvPr id="9" name="Slide Number Placeholder 8"/>
          <p:cNvSpPr>
            <a:spLocks noGrp="1"/>
          </p:cNvSpPr>
          <p:nvPr>
            <p:ph type="sldNum" sz="quarter" idx="15"/>
          </p:nvPr>
        </p:nvSpPr>
        <p:spPr/>
        <p:txBody>
          <a:bodyPr rtlCol="0"/>
          <a:lstStyle/>
          <a:p>
            <a:fld id="{C1A6578E-E6EE-4D94-BF71-ADC7ED34542A}"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BFA65AAA-E049-4D06-B0C3-0E1D430B409E}" type="datetimeFigureOut">
              <a:rPr lang="en-US" smtClean="0"/>
              <a:pPr/>
              <a:t>11/1/2024</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C1A6578E-E6EE-4D94-BF71-ADC7ED34542A}"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BFA65AAA-E049-4D06-B0C3-0E1D430B409E}" type="datetimeFigureOut">
              <a:rPr lang="en-US" smtClean="0"/>
              <a:pPr/>
              <a:t>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A6578E-E6EE-4D94-BF71-ADC7ED34542A}"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BFA65AAA-E049-4D06-B0C3-0E1D430B409E}" type="datetimeFigureOut">
              <a:rPr lang="en-US" smtClean="0"/>
              <a:pPr/>
              <a:t>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A6578E-E6EE-4D94-BF71-ADC7ED34542A}"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BFA65AAA-E049-4D06-B0C3-0E1D430B409E}" type="datetimeFigureOut">
              <a:rPr lang="en-US" smtClean="0"/>
              <a:pPr/>
              <a:t>11/1/2024</a:t>
            </a:fld>
            <a:endParaRPr lang="en-US"/>
          </a:p>
        </p:txBody>
      </p:sp>
      <p:sp>
        <p:nvSpPr>
          <p:cNvPr id="7" name="Slide Number Placeholder 6"/>
          <p:cNvSpPr>
            <a:spLocks noGrp="1"/>
          </p:cNvSpPr>
          <p:nvPr>
            <p:ph type="sldNum" sz="quarter" idx="11"/>
          </p:nvPr>
        </p:nvSpPr>
        <p:spPr/>
        <p:txBody>
          <a:bodyPr rtlCol="0"/>
          <a:lstStyle/>
          <a:p>
            <a:fld id="{C1A6578E-E6EE-4D94-BF71-ADC7ED34542A}"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A65AAA-E049-4D06-B0C3-0E1D430B409E}" type="datetimeFigureOut">
              <a:rPr lang="en-US" smtClean="0"/>
              <a:pPr/>
              <a:t>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A6578E-E6EE-4D94-BF71-ADC7ED34542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BFA65AAA-E049-4D06-B0C3-0E1D430B409E}" type="datetimeFigureOut">
              <a:rPr lang="en-US" smtClean="0"/>
              <a:pPr/>
              <a:t>11/1/2024</a:t>
            </a:fld>
            <a:endParaRPr lang="en-US"/>
          </a:p>
        </p:txBody>
      </p:sp>
      <p:sp>
        <p:nvSpPr>
          <p:cNvPr id="22" name="Slide Number Placeholder 21"/>
          <p:cNvSpPr>
            <a:spLocks noGrp="1"/>
          </p:cNvSpPr>
          <p:nvPr>
            <p:ph type="sldNum" sz="quarter" idx="15"/>
          </p:nvPr>
        </p:nvSpPr>
        <p:spPr/>
        <p:txBody>
          <a:bodyPr rtlCol="0"/>
          <a:lstStyle/>
          <a:p>
            <a:fld id="{C1A6578E-E6EE-4D94-BF71-ADC7ED34542A}"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BFA65AAA-E049-4D06-B0C3-0E1D430B409E}" type="datetimeFigureOut">
              <a:rPr lang="en-US" smtClean="0"/>
              <a:pPr/>
              <a:t>11/1/2024</a:t>
            </a:fld>
            <a:endParaRPr lang="en-US"/>
          </a:p>
        </p:txBody>
      </p:sp>
      <p:sp>
        <p:nvSpPr>
          <p:cNvPr id="18" name="Slide Number Placeholder 17"/>
          <p:cNvSpPr>
            <a:spLocks noGrp="1"/>
          </p:cNvSpPr>
          <p:nvPr>
            <p:ph type="sldNum" sz="quarter" idx="11"/>
          </p:nvPr>
        </p:nvSpPr>
        <p:spPr/>
        <p:txBody>
          <a:bodyPr rtlCol="0"/>
          <a:lstStyle/>
          <a:p>
            <a:fld id="{C1A6578E-E6EE-4D94-BF71-ADC7ED34542A}"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FA65AAA-E049-4D06-B0C3-0E1D430B409E}" type="datetimeFigureOut">
              <a:rPr lang="en-US" smtClean="0"/>
              <a:pPr/>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A6578E-E6EE-4D94-BF71-ADC7ED34542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FA65AAA-E049-4D06-B0C3-0E1D430B409E}" type="datetimeFigureOut">
              <a:rPr lang="en-US" smtClean="0"/>
              <a:pPr/>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A6578E-E6EE-4D94-BF71-ADC7ED34542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BFA65AAA-E049-4D06-B0C3-0E1D430B409E}" type="datetimeFigureOut">
              <a:rPr lang="en-US" smtClean="0"/>
              <a:pPr/>
              <a:t>11/1/2024</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1A6578E-E6EE-4D94-BF71-ADC7ED34542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iantfreakinrobot.com/sci/robot-cheetah.html" TargetMode="External"/><Relationship Id="rId2" Type="http://schemas.openxmlformats.org/officeDocument/2006/relationships/hyperlink" Target="https://robots.ieee.org/robots/minicheetah/" TargetMode="Externa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oi.org/10.1007/978-981-19-1618-2_12"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600199"/>
            <a:ext cx="8229600" cy="1828800"/>
          </a:xfrm>
        </p:spPr>
        <p:txBody>
          <a:bodyPr>
            <a:normAutofit fontScale="90000"/>
          </a:bodyPr>
          <a:lstStyle/>
          <a:p>
            <a:pPr algn="ctr"/>
            <a:r>
              <a:rPr lang="en-US" b="1" cap="none"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 </a:t>
            </a:r>
            <a:r>
              <a:rPr lang="en-US" sz="3600" cap="none"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Model Predictive Control Based Jumping of Robotic Leg on a </a:t>
            </a:r>
            <a:r>
              <a:rPr lang="en-US" sz="3600" cap="none"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P</a:t>
            </a:r>
            <a:r>
              <a:rPr lang="en-US" sz="3600" cap="none"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articular height using  Reinforcement Learning</a:t>
            </a:r>
            <a:r>
              <a:rPr lang="en-US" sz="3600" b="1" cap="none"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t/>
            </a:r>
            <a:br>
              <a:rPr lang="en-US" sz="3600" b="1" cap="none"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rPr>
            </a:br>
            <a:endParaRPr lang="en-US" sz="3600" b="1" cap="none"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endParaRPr>
          </a:p>
        </p:txBody>
      </p:sp>
      <p:sp>
        <p:nvSpPr>
          <p:cNvPr id="3" name="Subtitle 2"/>
          <p:cNvSpPr>
            <a:spLocks noGrp="1"/>
          </p:cNvSpPr>
          <p:nvPr>
            <p:ph type="subTitle" idx="1"/>
          </p:nvPr>
        </p:nvSpPr>
        <p:spPr>
          <a:xfrm>
            <a:off x="381000" y="4038600"/>
            <a:ext cx="8382000" cy="2209800"/>
          </a:xfrm>
        </p:spPr>
        <p:txBody>
          <a:bodyPr>
            <a:normAutofit/>
          </a:bodyPr>
          <a:lstStyle/>
          <a:p>
            <a:pPr algn="just"/>
            <a:r>
              <a:rPr lang="en-US" sz="2200" b="1" dirty="0" smtClean="0">
                <a:solidFill>
                  <a:schemeClr val="tx1"/>
                </a:solidFill>
                <a:latin typeface="Times New Roman" pitchFamily="18" charset="0"/>
                <a:cs typeface="Times New Roman" pitchFamily="18" charset="0"/>
              </a:rPr>
              <a:t>                           </a:t>
            </a:r>
            <a:r>
              <a:rPr lang="en-US" sz="2200" b="1" dirty="0" smtClean="0">
                <a:solidFill>
                  <a:schemeClr val="tx1"/>
                </a:solidFill>
                <a:latin typeface="Times New Roman" pitchFamily="18" charset="0"/>
                <a:cs typeface="Times New Roman" pitchFamily="18" charset="0"/>
              </a:rPr>
              <a:t>                                                                Presented </a:t>
            </a:r>
            <a:r>
              <a:rPr lang="en-US" sz="2200" b="1" dirty="0">
                <a:solidFill>
                  <a:schemeClr val="tx1"/>
                </a:solidFill>
                <a:latin typeface="Times New Roman" pitchFamily="18" charset="0"/>
                <a:cs typeface="Times New Roman" pitchFamily="18" charset="0"/>
              </a:rPr>
              <a:t>by </a:t>
            </a:r>
            <a:r>
              <a:rPr lang="en-US" sz="2200" b="1" dirty="0" smtClean="0">
                <a:solidFill>
                  <a:schemeClr val="tx1"/>
                </a:solidFill>
                <a:latin typeface="Times New Roman" pitchFamily="18" charset="0"/>
                <a:cs typeface="Times New Roman" pitchFamily="18" charset="0"/>
              </a:rPr>
              <a:t>:</a:t>
            </a:r>
          </a:p>
          <a:p>
            <a:pPr algn="just"/>
            <a:r>
              <a:rPr lang="en-US" sz="2200"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                                                                                           Amrita Rai</a:t>
            </a:r>
            <a:endParaRPr lang="en-US" sz="2200" b="1" dirty="0">
              <a:solidFill>
                <a:schemeClr val="tx1"/>
              </a:solidFill>
              <a:latin typeface="Times New Roman" pitchFamily="18" charset="0"/>
              <a:cs typeface="Times New Roman" pitchFamily="18" charset="0"/>
            </a:endParaRPr>
          </a:p>
        </p:txBody>
      </p:sp>
      <p:sp>
        <p:nvSpPr>
          <p:cNvPr id="5" name="TextBox 4"/>
          <p:cNvSpPr txBox="1"/>
          <p:nvPr/>
        </p:nvSpPr>
        <p:spPr>
          <a:xfrm>
            <a:off x="4343400" y="6248400"/>
            <a:ext cx="1074906" cy="369332"/>
          </a:xfrm>
          <a:prstGeom prst="rect">
            <a:avLst/>
          </a:prstGeom>
          <a:noFill/>
        </p:spPr>
        <p:txBody>
          <a:bodyPr wrap="square" rtlCol="0">
            <a:spAutoFit/>
          </a:bodyPr>
          <a:lstStyle/>
          <a:p>
            <a:r>
              <a:rPr lang="en-US" dirty="0" smtClean="0"/>
              <a:t>  </a:t>
            </a:r>
            <a:r>
              <a:rPr lang="en-US" sz="1400" dirty="0" smtClean="0">
                <a:latin typeface="+mj-lt"/>
              </a:rPr>
              <a:t>1</a:t>
            </a:r>
            <a:endParaRPr lang="en-US" sz="1400" dirty="0">
              <a:latin typeface="+mj-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020762"/>
          </a:xfrm>
        </p:spPr>
        <p:txBody>
          <a:bodyPr>
            <a:noAutofit/>
          </a:bodyPr>
          <a:lstStyle/>
          <a:p>
            <a:pPr algn="l"/>
            <a:r>
              <a:rPr lang="en-US" sz="3200" dirty="0">
                <a:latin typeface="Times New Roman" pitchFamily="18" charset="0"/>
                <a:cs typeface="Times New Roman" pitchFamily="18" charset="0"/>
              </a:rPr>
              <a:t>Content</a:t>
            </a:r>
          </a:p>
        </p:txBody>
      </p:sp>
      <p:sp>
        <p:nvSpPr>
          <p:cNvPr id="3" name="Content Placeholder 2"/>
          <p:cNvSpPr>
            <a:spLocks noGrp="1"/>
          </p:cNvSpPr>
          <p:nvPr>
            <p:ph sz="quarter" idx="1"/>
          </p:nvPr>
        </p:nvSpPr>
        <p:spPr>
          <a:xfrm>
            <a:off x="457200" y="1295400"/>
            <a:ext cx="8458200" cy="5257800"/>
          </a:xfrm>
        </p:spPr>
        <p:txBody>
          <a:bodyPr>
            <a:noAutofit/>
          </a:bodyPr>
          <a:lstStyle/>
          <a:p>
            <a:pPr>
              <a:buNone/>
            </a:pPr>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Introduction</a:t>
            </a:r>
          </a:p>
          <a:p>
            <a:r>
              <a:rPr lang="en-US" sz="1600" dirty="0" smtClean="0">
                <a:latin typeface="Times New Roman" pitchFamily="18" charset="0"/>
                <a:cs typeface="Times New Roman" pitchFamily="18" charset="0"/>
              </a:rPr>
              <a:t>Objective</a:t>
            </a:r>
            <a:endParaRPr lang="en-US" sz="1600" dirty="0">
              <a:latin typeface="Times New Roman" pitchFamily="18" charset="0"/>
              <a:cs typeface="Times New Roman" pitchFamily="18" charset="0"/>
            </a:endParaRPr>
          </a:p>
          <a:p>
            <a:r>
              <a:rPr lang="en-US" sz="1600" dirty="0" smtClean="0">
                <a:latin typeface="Times New Roman" pitchFamily="18" charset="0"/>
                <a:cs typeface="Times New Roman" pitchFamily="18" charset="0"/>
              </a:rPr>
              <a:t>Motivation</a:t>
            </a:r>
            <a:endParaRPr lang="en-US" sz="1600" dirty="0">
              <a:latin typeface="Times New Roman" pitchFamily="18" charset="0"/>
              <a:cs typeface="Times New Roman" pitchFamily="18" charset="0"/>
            </a:endParaRPr>
          </a:p>
          <a:p>
            <a:r>
              <a:rPr lang="en-US" sz="1600" dirty="0" smtClean="0">
                <a:latin typeface="Times New Roman" pitchFamily="18" charset="0"/>
                <a:cs typeface="Times New Roman" pitchFamily="18" charset="0"/>
              </a:rPr>
              <a:t>Theoretical Background</a:t>
            </a:r>
            <a:endParaRPr lang="en-US" sz="1600" dirty="0">
              <a:latin typeface="Times New Roman" pitchFamily="18" charset="0"/>
              <a:cs typeface="Times New Roman" pitchFamily="18" charset="0"/>
            </a:endParaRPr>
          </a:p>
          <a:p>
            <a:r>
              <a:rPr lang="en-US" sz="1600" dirty="0" smtClean="0">
                <a:latin typeface="Times New Roman"/>
                <a:cs typeface="Times New Roman"/>
              </a:rPr>
              <a:t>Methodology</a:t>
            </a:r>
            <a:endParaRPr lang="en-US" sz="1600" dirty="0">
              <a:latin typeface="Times New Roman"/>
              <a:cs typeface="Times New Roman"/>
            </a:endParaRPr>
          </a:p>
          <a:p>
            <a:r>
              <a:rPr lang="en-US" sz="1600" dirty="0">
                <a:latin typeface="Times New Roman"/>
                <a:ea typeface="+mn-lt"/>
                <a:cs typeface="Times New Roman"/>
              </a:rPr>
              <a:t>Result </a:t>
            </a:r>
            <a:endParaRPr lang="en-US" sz="1600" dirty="0" smtClean="0">
              <a:latin typeface="Times New Roman"/>
              <a:ea typeface="+mn-lt"/>
              <a:cs typeface="Times New Roman"/>
            </a:endParaRPr>
          </a:p>
          <a:p>
            <a:r>
              <a:rPr lang="en-US" sz="1600" dirty="0" smtClean="0">
                <a:latin typeface="Times New Roman"/>
                <a:ea typeface="+mn-lt"/>
                <a:cs typeface="Times New Roman"/>
              </a:rPr>
              <a:t>Conclusion</a:t>
            </a:r>
          </a:p>
          <a:p>
            <a:r>
              <a:rPr lang="en-US" sz="1600" dirty="0" smtClean="0">
                <a:latin typeface="Times New Roman"/>
                <a:ea typeface="+mn-lt"/>
                <a:cs typeface="Times New Roman"/>
              </a:rPr>
              <a:t>Future Scope</a:t>
            </a:r>
            <a:endParaRPr lang="en-US" sz="1600" dirty="0">
              <a:latin typeface="Times New Roman"/>
              <a:ea typeface="+mn-lt"/>
              <a:cs typeface="+mn-lt"/>
            </a:endParaRPr>
          </a:p>
          <a:p>
            <a:r>
              <a:rPr lang="en-US" sz="1600" dirty="0">
                <a:latin typeface="Times New Roman" pitchFamily="18" charset="0"/>
                <a:cs typeface="Times New Roman" pitchFamily="18" charset="0"/>
              </a:rPr>
              <a:t>Reference</a:t>
            </a:r>
          </a:p>
          <a:p>
            <a:pPr algn="just">
              <a:buNone/>
            </a:pPr>
            <a:endParaRPr lang="en-US" sz="16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00" y="381000"/>
            <a:ext cx="3886200" cy="5640150"/>
          </a:xfrm>
          <a:prstGeom prst="rect">
            <a:avLst/>
          </a:prstGeom>
        </p:spPr>
      </p:pic>
      <p:sp>
        <p:nvSpPr>
          <p:cNvPr id="5" name="TextBox 4"/>
          <p:cNvSpPr txBox="1"/>
          <p:nvPr/>
        </p:nvSpPr>
        <p:spPr>
          <a:xfrm>
            <a:off x="4110746" y="6301914"/>
            <a:ext cx="994654" cy="369332"/>
          </a:xfrm>
          <a:prstGeom prst="rect">
            <a:avLst/>
          </a:prstGeom>
          <a:noFill/>
        </p:spPr>
        <p:txBody>
          <a:bodyPr wrap="square" rtlCol="0">
            <a:spAutoFit/>
          </a:bodyPr>
          <a:lstStyle/>
          <a:p>
            <a:r>
              <a:rPr lang="en-US" dirty="0" smtClean="0"/>
              <a:t>      </a:t>
            </a:r>
            <a:r>
              <a:rPr lang="en-US" sz="1400" dirty="0" smtClean="0">
                <a:latin typeface="+mj-lt"/>
              </a:rPr>
              <a:t>2</a:t>
            </a:r>
            <a:endParaRPr lang="en-US" sz="1400" dirty="0">
              <a:latin typeface="+mj-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467600" cy="838200"/>
          </a:xfrm>
        </p:spPr>
        <p:txBody>
          <a:bodyPr/>
          <a:lstStyle/>
          <a:p>
            <a:r>
              <a:rPr lang="en-IN" dirty="0"/>
              <a:t>Introduction</a:t>
            </a:r>
          </a:p>
        </p:txBody>
      </p:sp>
      <p:sp>
        <p:nvSpPr>
          <p:cNvPr id="3" name="Content Placeholder 2"/>
          <p:cNvSpPr>
            <a:spLocks noGrp="1"/>
          </p:cNvSpPr>
          <p:nvPr>
            <p:ph sz="quarter" idx="1"/>
          </p:nvPr>
        </p:nvSpPr>
        <p:spPr>
          <a:xfrm>
            <a:off x="457200" y="990600"/>
            <a:ext cx="7467600" cy="5715000"/>
          </a:xfrm>
        </p:spPr>
        <p:txBody>
          <a:bodyPr>
            <a:normAutofit lnSpcReduction="10000"/>
          </a:bodyPr>
          <a:lstStyle/>
          <a:p>
            <a:pPr marL="0" indent="0">
              <a:buNone/>
            </a:pPr>
            <a:r>
              <a:rPr lang="en-IN" sz="2800" i="1" u="sng" dirty="0" smtClean="0">
                <a:latin typeface="Times New Roman" panose="02020603050405020304" pitchFamily="18" charset="0"/>
                <a:cs typeface="Times New Roman" panose="02020603050405020304" pitchFamily="18" charset="0"/>
              </a:rPr>
              <a:t>Robots</a:t>
            </a:r>
            <a:r>
              <a:rPr lang="en-IN" sz="2800" i="1" u="sng" dirty="0">
                <a:latin typeface="Times New Roman" panose="02020603050405020304" pitchFamily="18" charset="0"/>
                <a:cs typeface="Times New Roman" panose="02020603050405020304" pitchFamily="18" charset="0"/>
              </a:rPr>
              <a:t>: </a:t>
            </a:r>
            <a:endParaRPr lang="en-IN" sz="2800" i="1" u="sng"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 Robots are machines that can be programmed by computers and are capable of per- forming a complex series of tasks on their own</a:t>
            </a:r>
            <a:r>
              <a:rPr lang="en-US" sz="1600" dirty="0" smtClean="0">
                <a:latin typeface="Times New Roman" panose="02020603050405020304" pitchFamily="18" charset="0"/>
                <a:cs typeface="Times New Roman" panose="02020603050405020304" pitchFamily="18" charset="0"/>
              </a:rPr>
              <a:t>.</a:t>
            </a:r>
          </a:p>
          <a:p>
            <a:pPr marL="0" indent="0" algn="just">
              <a:buNone/>
            </a:pP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Robots’ ability to perform simple tasks in a manner similar to that of humans makes their work simple, quick, and easy. </a:t>
            </a:r>
            <a:endParaRPr lang="en-US" sz="1600" dirty="0" smtClean="0">
              <a:latin typeface="Times New Roman" panose="02020603050405020304" pitchFamily="18" charset="0"/>
              <a:cs typeface="Times New Roman" panose="02020603050405020304" pitchFamily="18" charset="0"/>
            </a:endParaRPr>
          </a:p>
          <a:p>
            <a:pPr marL="0" indent="0" algn="just">
              <a:buNone/>
            </a:pP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Robots are more adept at the following tasks than humans are:</a:t>
            </a:r>
          </a:p>
          <a:p>
            <a:pPr marL="0" indent="0" algn="just">
              <a:buNone/>
            </a:pPr>
            <a:r>
              <a:rPr lang="en-US" sz="1600" dirty="0" smtClean="0">
                <a:latin typeface="Times New Roman" panose="02020603050405020304" pitchFamily="18" charset="0"/>
                <a:cs typeface="Times New Roman" panose="02020603050405020304" pitchFamily="18" charset="0"/>
              </a:rPr>
              <a:t>      1.In </a:t>
            </a:r>
            <a:r>
              <a:rPr lang="en-US" sz="1600" dirty="0">
                <a:latin typeface="Times New Roman" panose="02020603050405020304" pitchFamily="18" charset="0"/>
                <a:cs typeface="Times New Roman" panose="02020603050405020304" pitchFamily="18" charset="0"/>
              </a:rPr>
              <a:t>business or industrial settings, automate manual or repetitive processes.</a:t>
            </a:r>
          </a:p>
          <a:p>
            <a:pPr marL="0" indent="0" algn="just">
              <a:buNone/>
            </a:pPr>
            <a:r>
              <a:rPr lang="en-US" sz="1600" dirty="0" smtClean="0">
                <a:latin typeface="Times New Roman" panose="02020603050405020304" pitchFamily="18" charset="0"/>
                <a:cs typeface="Times New Roman" panose="02020603050405020304" pitchFamily="18" charset="0"/>
              </a:rPr>
              <a:t>      2.Perform </a:t>
            </a:r>
            <a:r>
              <a:rPr lang="en-US" sz="1600" dirty="0">
                <a:latin typeface="Times New Roman" panose="02020603050405020304" pitchFamily="18" charset="0"/>
                <a:cs typeface="Times New Roman" panose="02020603050405020304" pitchFamily="18" charset="0"/>
              </a:rPr>
              <a:t>dangerous or unpredictable tasks in order to find dangers like gas </a:t>
            </a:r>
            <a:r>
              <a:rPr lang="en-US" sz="1600" dirty="0" smtClean="0">
                <a:latin typeface="Times New Roman" panose="02020603050405020304" pitchFamily="18" charset="0"/>
                <a:cs typeface="Times New Roman" panose="02020603050405020304" pitchFamily="18" charset="0"/>
              </a:rPr>
              <a:t>leaks. </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3.Deliver </a:t>
            </a:r>
            <a:r>
              <a:rPr lang="en-US" sz="1600" dirty="0">
                <a:latin typeface="Times New Roman" panose="02020603050405020304" pitchFamily="18" charset="0"/>
                <a:cs typeface="Times New Roman" panose="02020603050405020304" pitchFamily="18" charset="0"/>
              </a:rPr>
              <a:t>and process reports on corporate security.</a:t>
            </a:r>
          </a:p>
          <a:p>
            <a:pPr marL="0" indent="0" algn="just">
              <a:buNone/>
            </a:pPr>
            <a:r>
              <a:rPr lang="en-US" sz="1600" dirty="0" smtClean="0">
                <a:latin typeface="Times New Roman" panose="02020603050405020304" pitchFamily="18" charset="0"/>
                <a:cs typeface="Times New Roman" panose="02020603050405020304" pitchFamily="18" charset="0"/>
              </a:rPr>
              <a:t>      4.Deliver </a:t>
            </a:r>
            <a:r>
              <a:rPr lang="en-US" sz="1600" dirty="0">
                <a:latin typeface="Times New Roman" panose="02020603050405020304" pitchFamily="18" charset="0"/>
                <a:cs typeface="Times New Roman" panose="02020603050405020304" pitchFamily="18" charset="0"/>
              </a:rPr>
              <a:t>internet orders, room service, and even food packages in an emergency.</a:t>
            </a:r>
          </a:p>
          <a:p>
            <a:pPr marL="0" indent="0" algn="just">
              <a:buNone/>
            </a:pPr>
            <a:r>
              <a:rPr lang="en-US" sz="1600" dirty="0" smtClean="0">
                <a:latin typeface="Times New Roman" panose="02020603050405020304" pitchFamily="18" charset="0"/>
                <a:cs typeface="Times New Roman" panose="02020603050405020304" pitchFamily="18" charset="0"/>
              </a:rPr>
              <a:t>      5.Help </a:t>
            </a:r>
            <a:r>
              <a:rPr lang="en-US" sz="1600" dirty="0">
                <a:latin typeface="Times New Roman" panose="02020603050405020304" pitchFamily="18" charset="0"/>
                <a:cs typeface="Times New Roman" panose="02020603050405020304" pitchFamily="18" charset="0"/>
              </a:rPr>
              <a:t>patients throughout operations.</a:t>
            </a:r>
          </a:p>
          <a:p>
            <a:pPr algn="just">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Robotic </a:t>
            </a:r>
            <a:r>
              <a:rPr lang="en-US" sz="1600" dirty="0">
                <a:latin typeface="Times New Roman" panose="02020603050405020304" pitchFamily="18" charset="0"/>
                <a:cs typeface="Times New Roman" panose="02020603050405020304" pitchFamily="18" charset="0"/>
              </a:rPr>
              <a:t>hands and legs are only two examples of the many robots </a:t>
            </a:r>
            <a:r>
              <a:rPr lang="en-US" sz="1600" dirty="0" smtClean="0">
                <a:latin typeface="Times New Roman" panose="02020603050405020304" pitchFamily="18" charset="0"/>
                <a:cs typeface="Times New Roman" panose="02020603050405020304" pitchFamily="18" charset="0"/>
              </a:rPr>
              <a:t>utilized </a:t>
            </a:r>
            <a:r>
              <a:rPr lang="en-US" sz="1600" dirty="0">
                <a:latin typeface="Times New Roman" panose="02020603050405020304" pitchFamily="18" charset="0"/>
                <a:cs typeface="Times New Roman" panose="02020603050405020304" pitchFamily="18" charset="0"/>
              </a:rPr>
              <a:t>in the medical field</a:t>
            </a:r>
            <a:r>
              <a:rPr lang="en-US" sz="1600" dirty="0" smtClean="0">
                <a:latin typeface="Times New Roman" panose="02020603050405020304" pitchFamily="18" charset="0"/>
                <a:cs typeface="Times New Roman" panose="02020603050405020304" pitchFamily="18" charset="0"/>
              </a:rPr>
              <a:t>.</a:t>
            </a:r>
          </a:p>
          <a:p>
            <a:pPr marL="0" indent="0" algn="just">
              <a:buNone/>
            </a:pPr>
            <a:r>
              <a:rPr lang="en-US" sz="1600" dirty="0" smtClean="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smtClean="0">
                <a:latin typeface="Times New Roman" panose="02020603050405020304" pitchFamily="18" charset="0"/>
                <a:cs typeface="Times New Roman" panose="02020603050405020304" pitchFamily="18" charset="0"/>
              </a:rPr>
              <a:t>                                                                       </a:t>
            </a:r>
            <a:r>
              <a:rPr lang="en-US" sz="1400" dirty="0" smtClean="0">
                <a:latin typeface="+mj-lt"/>
                <a:cs typeface="Times New Roman" panose="02020603050405020304" pitchFamily="18" charset="0"/>
              </a:rPr>
              <a:t>3</a:t>
            </a:r>
            <a:endParaRPr lang="en-US" sz="1400" dirty="0">
              <a:latin typeface="+mj-lt"/>
              <a:cs typeface="Times New Roman" panose="02020603050405020304" pitchFamily="18" charset="0"/>
            </a:endParaRPr>
          </a:p>
          <a:p>
            <a:pPr algn="just">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0" indent="0" algn="just">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77585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IN" dirty="0"/>
              <a:t>Introduction</a:t>
            </a:r>
          </a:p>
        </p:txBody>
      </p:sp>
      <p:sp>
        <p:nvSpPr>
          <p:cNvPr id="3" name="Content Placeholder 2"/>
          <p:cNvSpPr>
            <a:spLocks noGrp="1"/>
          </p:cNvSpPr>
          <p:nvPr>
            <p:ph sz="quarter" idx="1"/>
          </p:nvPr>
        </p:nvSpPr>
        <p:spPr>
          <a:xfrm>
            <a:off x="457200" y="1295400"/>
            <a:ext cx="7467600" cy="5562600"/>
          </a:xfrm>
        </p:spPr>
        <p:txBody>
          <a:bodyPr>
            <a:normAutofit/>
          </a:bodyPr>
          <a:lstStyle/>
          <a:p>
            <a:pPr algn="just">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Robots </a:t>
            </a:r>
            <a:r>
              <a:rPr lang="en-US" sz="1600" dirty="0">
                <a:latin typeface="Times New Roman" panose="02020603050405020304" pitchFamily="18" charset="0"/>
                <a:cs typeface="Times New Roman" panose="02020603050405020304" pitchFamily="18" charset="0"/>
              </a:rPr>
              <a:t>are essential to the study of physics because they can perform tasks that humans are unable to. </a:t>
            </a: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We are specifically referring to space robots, which have the ability to live in space, transport supplies for space missions, monitor space stations, or just stroll on the earth so that people may view these locations from a distance</a:t>
            </a:r>
            <a:r>
              <a:rPr lang="en-US" sz="16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An </a:t>
            </a:r>
            <a:r>
              <a:rPr lang="en-US" sz="1600" dirty="0">
                <a:latin typeface="Times New Roman" panose="02020603050405020304" pitchFamily="18" charset="0"/>
                <a:cs typeface="Times New Roman" panose="02020603050405020304" pitchFamily="18" charset="0"/>
              </a:rPr>
              <a:t>industrial robot is a versatile manipulator that can be autonomously controlled, reprogrammed, and programmed in three or more axes. </a:t>
            </a:r>
            <a:endParaRPr lang="en-US" sz="1600" dirty="0" smtClean="0">
              <a:latin typeface="Times New Roman" panose="02020603050405020304" pitchFamily="18" charset="0"/>
              <a:cs typeface="Times New Roman" panose="02020603050405020304" pitchFamily="18" charset="0"/>
            </a:endParaRPr>
          </a:p>
          <a:p>
            <a:pPr marL="0" indent="0" algn="just">
              <a:buNone/>
            </a:pPr>
            <a:r>
              <a:rPr lang="en-US" sz="1600" dirty="0" smtClean="0">
                <a:latin typeface="Times New Roman" panose="02020603050405020304" pitchFamily="18" charset="0"/>
                <a:cs typeface="Times New Roman" panose="02020603050405020304" pitchFamily="18" charset="0"/>
              </a:rPr>
              <a:t>                                   </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smtClean="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smtClean="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Figure </a:t>
            </a:r>
            <a:r>
              <a:rPr lang="en-US" sz="1400" b="1" dirty="0" smtClean="0">
                <a:latin typeface="Times New Roman" panose="02020603050405020304" pitchFamily="18" charset="0"/>
                <a:cs typeface="Times New Roman" panose="02020603050405020304" pitchFamily="18" charset="0"/>
              </a:rPr>
              <a:t>1</a:t>
            </a:r>
            <a:r>
              <a:rPr lang="en-US" sz="1400" b="1" dirty="0">
                <a:latin typeface="Times New Roman" panose="02020603050405020304" pitchFamily="18" charset="0"/>
                <a:cs typeface="Times New Roman" panose="02020603050405020304" pitchFamily="18" charset="0"/>
              </a:rPr>
              <a:t>: Boston </a:t>
            </a:r>
            <a:r>
              <a:rPr lang="en-US" sz="1400" b="1" dirty="0" smtClean="0">
                <a:latin typeface="Times New Roman" panose="02020603050405020304" pitchFamily="18" charset="0"/>
                <a:cs typeface="Times New Roman" panose="02020603050405020304" pitchFamily="18" charset="0"/>
              </a:rPr>
              <a:t>Robots</a:t>
            </a:r>
          </a:p>
          <a:p>
            <a:pPr marL="0" indent="0" algn="just">
              <a:buNone/>
            </a:pPr>
            <a:r>
              <a:rPr lang="en-US" sz="1400" b="1" dirty="0">
                <a:latin typeface="+mj-lt"/>
                <a:cs typeface="Times New Roman" panose="02020603050405020304" pitchFamily="18" charset="0"/>
              </a:rPr>
              <a:t> </a:t>
            </a:r>
            <a:r>
              <a:rPr lang="en-US" sz="1400" b="1" dirty="0" smtClean="0">
                <a:latin typeface="+mj-lt"/>
                <a:cs typeface="Times New Roman" panose="02020603050405020304" pitchFamily="18" charset="0"/>
              </a:rPr>
              <a:t>                                                                                 </a:t>
            </a:r>
            <a:r>
              <a:rPr lang="en-US" sz="1400" dirty="0" smtClean="0">
                <a:latin typeface="+mj-lt"/>
                <a:cs typeface="Times New Roman" panose="02020603050405020304" pitchFamily="18" charset="0"/>
              </a:rPr>
              <a:t>4 </a:t>
            </a:r>
            <a:endParaRPr lang="en-US" sz="1400" dirty="0">
              <a:latin typeface="+mj-lt"/>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514600" y="4038601"/>
            <a:ext cx="4114800" cy="1981200"/>
          </a:xfrm>
          <a:prstGeom prst="rect">
            <a:avLst/>
          </a:prstGeom>
        </p:spPr>
      </p:pic>
    </p:spTree>
    <p:extLst>
      <p:ext uri="{BB962C8B-B14F-4D97-AF65-F5344CB8AC3E}">
        <p14:creationId xmlns:p14="http://schemas.microsoft.com/office/powerpoint/2010/main" val="6002729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868362"/>
          </a:xfrm>
        </p:spPr>
        <p:txBody>
          <a:bodyPr>
            <a:normAutofit/>
          </a:bodyPr>
          <a:lstStyle/>
          <a:p>
            <a:pPr algn="l"/>
            <a:r>
              <a:rPr lang="en-US" sz="3200" dirty="0">
                <a:latin typeface="Times New Roman" pitchFamily="18" charset="0"/>
                <a:cs typeface="Times New Roman" pitchFamily="18" charset="0"/>
              </a:rPr>
              <a:t>Introduction</a:t>
            </a:r>
          </a:p>
        </p:txBody>
      </p:sp>
      <p:sp>
        <p:nvSpPr>
          <p:cNvPr id="3" name="Content Placeholder 2"/>
          <p:cNvSpPr>
            <a:spLocks noGrp="1"/>
          </p:cNvSpPr>
          <p:nvPr>
            <p:ph sz="quarter" idx="1"/>
          </p:nvPr>
        </p:nvSpPr>
        <p:spPr>
          <a:xfrm>
            <a:off x="304800" y="978932"/>
            <a:ext cx="8229600" cy="5791200"/>
          </a:xfrm>
        </p:spPr>
        <p:txBody>
          <a:bodyPr>
            <a:normAutofit fontScale="70000" lnSpcReduction="20000"/>
          </a:bodyPr>
          <a:lstStyle/>
          <a:p>
            <a:pPr algn="just">
              <a:buNone/>
            </a:pPr>
            <a:r>
              <a:rPr lang="en-US" sz="4500" dirty="0">
                <a:latin typeface="Times New Roman" pitchFamily="18" charset="0"/>
                <a:cs typeface="Times New Roman" pitchFamily="18" charset="0"/>
              </a:rPr>
              <a:t> </a:t>
            </a:r>
            <a:r>
              <a:rPr lang="en-US" sz="4500" i="1" u="sng" dirty="0">
                <a:latin typeface="Times New Roman" pitchFamily="18" charset="0"/>
                <a:cs typeface="Times New Roman" pitchFamily="18" charset="0"/>
              </a:rPr>
              <a:t>Robotics</a:t>
            </a:r>
            <a:r>
              <a:rPr lang="en-US" sz="4500" dirty="0">
                <a:latin typeface="Times New Roman" pitchFamily="18" charset="0"/>
                <a:cs typeface="Times New Roman" pitchFamily="18" charset="0"/>
              </a:rPr>
              <a:t>: </a:t>
            </a:r>
            <a:endParaRPr lang="en-US" sz="4500" dirty="0" smtClean="0">
              <a:latin typeface="Times New Roman" pitchFamily="18" charset="0"/>
              <a:cs typeface="Times New Roman" pitchFamily="18" charset="0"/>
            </a:endParaRPr>
          </a:p>
          <a:p>
            <a:pPr algn="just">
              <a:buFont typeface="Wingdings" panose="05000000000000000000" pitchFamily="2" charset="2"/>
              <a:buChar char="v"/>
            </a:pPr>
            <a:r>
              <a:rPr lang="en-US" sz="2600" dirty="0" smtClean="0">
                <a:latin typeface="Times New Roman" pitchFamily="18" charset="0"/>
                <a:cs typeface="Times New Roman" pitchFamily="18" charset="0"/>
              </a:rPr>
              <a:t>Robotics </a:t>
            </a:r>
            <a:r>
              <a:rPr lang="en-US" sz="2600" dirty="0">
                <a:latin typeface="Times New Roman" pitchFamily="18" charset="0"/>
                <a:cs typeface="Times New Roman" pitchFamily="18" charset="0"/>
              </a:rPr>
              <a:t>is the science and technology of robots, their design, manufacturing and application</a:t>
            </a:r>
            <a:r>
              <a:rPr lang="en-US" sz="2600" dirty="0" smtClean="0">
                <a:latin typeface="Times New Roman" pitchFamily="18" charset="0"/>
                <a:cs typeface="Times New Roman" pitchFamily="18" charset="0"/>
              </a:rPr>
              <a:t>.</a:t>
            </a:r>
          </a:p>
          <a:p>
            <a:pPr algn="just">
              <a:buFont typeface="Wingdings" panose="05000000000000000000" pitchFamily="2" charset="2"/>
              <a:buChar char="v"/>
            </a:pPr>
            <a:endParaRPr lang="en-US" sz="2600" dirty="0">
              <a:latin typeface="Times New Roman" pitchFamily="18" charset="0"/>
              <a:cs typeface="Times New Roman" pitchFamily="18" charset="0"/>
            </a:endParaRPr>
          </a:p>
          <a:p>
            <a:pPr algn="just">
              <a:buFont typeface="Wingdings" panose="05000000000000000000" pitchFamily="2" charset="2"/>
              <a:buChar char="v"/>
            </a:pPr>
            <a:r>
              <a:rPr lang="en-US" sz="2600" dirty="0">
                <a:latin typeface="Times New Roman" pitchFamily="18" charset="0"/>
                <a:cs typeface="Times New Roman" pitchFamily="18" charset="0"/>
              </a:rPr>
              <a:t>Robotics develops machines that can substitute for humans and replicate human actions</a:t>
            </a:r>
            <a:r>
              <a:rPr lang="en-US" sz="2600" dirty="0" smtClean="0">
                <a:latin typeface="Times New Roman" pitchFamily="18" charset="0"/>
                <a:cs typeface="Times New Roman" pitchFamily="18" charset="0"/>
              </a:rPr>
              <a:t>.</a:t>
            </a:r>
            <a:r>
              <a:rPr lang="en-US" sz="2300" dirty="0" smtClean="0">
                <a:latin typeface="Times New Roman" pitchFamily="18" charset="0"/>
                <a:cs typeface="Times New Roman" pitchFamily="18" charset="0"/>
              </a:rPr>
              <a:t>                                                         </a:t>
            </a:r>
          </a:p>
          <a:p>
            <a:pPr algn="just">
              <a:buNone/>
            </a:pPr>
            <a:r>
              <a:rPr lang="en-US" sz="2300" dirty="0">
                <a:latin typeface="Times New Roman" pitchFamily="18" charset="0"/>
                <a:cs typeface="Times New Roman" pitchFamily="18" charset="0"/>
              </a:rPr>
              <a:t> </a:t>
            </a:r>
            <a:r>
              <a:rPr lang="en-US" sz="2300" dirty="0" smtClean="0">
                <a:latin typeface="Times New Roman" pitchFamily="18" charset="0"/>
                <a:cs typeface="Times New Roman" pitchFamily="18" charset="0"/>
              </a:rPr>
              <a:t>                                                                     </a:t>
            </a:r>
            <a:endParaRPr lang="en-US" sz="3000" u="sng" dirty="0" smtClean="0">
              <a:latin typeface="Times New Roman" pitchFamily="18" charset="0"/>
              <a:cs typeface="Times New Roman" pitchFamily="18" charset="0"/>
            </a:endParaRPr>
          </a:p>
          <a:p>
            <a:pPr algn="just">
              <a:buNone/>
            </a:pPr>
            <a:endParaRPr lang="en-US" sz="3000" u="sng" dirty="0">
              <a:latin typeface="Times New Roman" pitchFamily="18" charset="0"/>
              <a:cs typeface="Times New Roman" pitchFamily="18" charset="0"/>
            </a:endParaRPr>
          </a:p>
          <a:p>
            <a:pPr algn="just">
              <a:buNone/>
            </a:pPr>
            <a:endParaRPr lang="en-US" sz="3000" u="sng" dirty="0" smtClean="0">
              <a:latin typeface="Times New Roman" pitchFamily="18" charset="0"/>
              <a:cs typeface="Times New Roman" pitchFamily="18" charset="0"/>
            </a:endParaRPr>
          </a:p>
          <a:p>
            <a:pPr algn="just">
              <a:buNone/>
            </a:pPr>
            <a:endParaRPr lang="en-US" sz="3000" u="sng" dirty="0" smtClean="0">
              <a:latin typeface="Times New Roman" pitchFamily="18" charset="0"/>
              <a:cs typeface="Times New Roman" pitchFamily="18" charset="0"/>
            </a:endParaRPr>
          </a:p>
          <a:p>
            <a:pPr algn="just">
              <a:buNone/>
            </a:pPr>
            <a:endParaRPr lang="en-US" sz="3000" u="sng" dirty="0">
              <a:latin typeface="Times New Roman" pitchFamily="18" charset="0"/>
              <a:cs typeface="Times New Roman" pitchFamily="18" charset="0"/>
            </a:endParaRPr>
          </a:p>
          <a:p>
            <a:pPr algn="just">
              <a:buNone/>
            </a:pPr>
            <a:endParaRPr lang="en-US" sz="3000" u="sng" dirty="0" smtClean="0">
              <a:latin typeface="Times New Roman" pitchFamily="18" charset="0"/>
              <a:cs typeface="Times New Roman" pitchFamily="18" charset="0"/>
            </a:endParaRPr>
          </a:p>
          <a:p>
            <a:pPr algn="just">
              <a:buNone/>
            </a:pPr>
            <a:endParaRPr lang="en-US" sz="3000" u="sng" dirty="0">
              <a:latin typeface="Times New Roman" pitchFamily="18" charset="0"/>
              <a:cs typeface="Times New Roman" pitchFamily="18" charset="0"/>
            </a:endParaRPr>
          </a:p>
          <a:p>
            <a:pPr algn="just">
              <a:buNone/>
            </a:pPr>
            <a:endParaRPr lang="en-US" sz="3000" u="sng" dirty="0" smtClean="0">
              <a:latin typeface="Times New Roman" pitchFamily="18" charset="0"/>
              <a:cs typeface="Times New Roman" pitchFamily="18" charset="0"/>
            </a:endParaRPr>
          </a:p>
          <a:p>
            <a:pPr algn="just">
              <a:buNone/>
            </a:pPr>
            <a:endParaRPr lang="en-US" sz="3000" u="sng" dirty="0">
              <a:latin typeface="Times New Roman" pitchFamily="18" charset="0"/>
              <a:cs typeface="Times New Roman" pitchFamily="18" charset="0"/>
            </a:endParaRPr>
          </a:p>
          <a:p>
            <a:pPr algn="just">
              <a:buNone/>
            </a:pPr>
            <a:r>
              <a:rPr lang="en-US" sz="3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Figure 2: Spot                                                                       Figure 3: Bob(Car)</a:t>
            </a:r>
            <a:endParaRPr lang="en-US" sz="2000" b="1" dirty="0">
              <a:latin typeface="Times New Roman" pitchFamily="18" charset="0"/>
              <a:cs typeface="Times New Roman" pitchFamily="18" charset="0"/>
            </a:endParaRPr>
          </a:p>
          <a:p>
            <a:pPr algn="just">
              <a:buNone/>
            </a:pPr>
            <a:r>
              <a:rPr lang="en-US" sz="3000" u="sng" dirty="0" smtClean="0">
                <a:latin typeface="Times New Roman" pitchFamily="18" charset="0"/>
                <a:cs typeface="Times New Roman" pitchFamily="18" charset="0"/>
              </a:rPr>
              <a:t>                           </a:t>
            </a:r>
          </a:p>
          <a:p>
            <a:pPr algn="just">
              <a:buNone/>
            </a:pPr>
            <a:r>
              <a:rPr lang="en-US" sz="2600" dirty="0">
                <a:latin typeface="+mj-lt"/>
                <a:cs typeface="Times New Roman" pitchFamily="18" charset="0"/>
              </a:rPr>
              <a:t> </a:t>
            </a:r>
            <a:r>
              <a:rPr lang="en-US" sz="2600" dirty="0" smtClean="0">
                <a:latin typeface="+mj-lt"/>
                <a:cs typeface="Times New Roman" pitchFamily="18" charset="0"/>
              </a:rPr>
              <a:t>                                                          </a:t>
            </a:r>
            <a:r>
              <a:rPr lang="en-US" sz="2000" dirty="0" smtClean="0">
                <a:latin typeface="+mj-lt"/>
                <a:cs typeface="Times New Roman" pitchFamily="18" charset="0"/>
              </a:rPr>
              <a:t>5</a:t>
            </a:r>
            <a:endParaRPr lang="en-US" sz="2000" dirty="0">
              <a:latin typeface="+mj-lt"/>
              <a:cs typeface="Times New Roman" pitchFamily="18" charset="0"/>
            </a:endParaRPr>
          </a:p>
        </p:txBody>
      </p:sp>
      <p:sp>
        <p:nvSpPr>
          <p:cNvPr id="15" name="TextBox 14"/>
          <p:cNvSpPr txBox="1"/>
          <p:nvPr/>
        </p:nvSpPr>
        <p:spPr>
          <a:xfrm>
            <a:off x="4419600" y="5867400"/>
            <a:ext cx="3698448" cy="738664"/>
          </a:xfrm>
          <a:prstGeom prst="rect">
            <a:avLst/>
          </a:prstGeom>
          <a:noFill/>
        </p:spPr>
        <p:txBody>
          <a:bodyPr wrap="square" rtlCol="0">
            <a:spAutoFit/>
          </a:bodyPr>
          <a:lstStyle/>
          <a:p>
            <a:pPr>
              <a:buFont typeface="Arial" charset="0"/>
              <a:buChar char="•"/>
            </a:pPr>
            <a:r>
              <a:rPr lang="en-US" sz="1100" dirty="0" smtClean="0">
                <a:latin typeface="Times New Roman" pitchFamily="18" charset="0"/>
                <a:cs typeface="Times New Roman" pitchFamily="18" charset="0"/>
                <a:hlinkClick r:id="rId2"/>
              </a:rPr>
              <a:t>[1] https://robots.ieee.org/robots/minicheetah/</a:t>
            </a:r>
            <a:endParaRPr lang="en-US" sz="1100" dirty="0" smtClean="0">
              <a:latin typeface="Times New Roman" pitchFamily="18" charset="0"/>
              <a:cs typeface="Times New Roman" pitchFamily="18" charset="0"/>
            </a:endParaRPr>
          </a:p>
          <a:p>
            <a:r>
              <a:rPr lang="en-US" sz="1100" dirty="0" smtClean="0">
                <a:latin typeface="Times New Roman" pitchFamily="18" charset="0"/>
                <a:cs typeface="Times New Roman" pitchFamily="18" charset="0"/>
                <a:hlinkClick r:id="rId3"/>
              </a:rPr>
              <a:t> [2] https://www.giantfreakinrobot.com/sci/robot-cheetah.html</a:t>
            </a:r>
            <a:endParaRPr lang="en-US" sz="1100" dirty="0" smtClean="0">
              <a:latin typeface="Times New Roman" pitchFamily="18" charset="0"/>
              <a:cs typeface="Times New Roman" pitchFamily="18" charset="0"/>
            </a:endParaRPr>
          </a:p>
          <a:p>
            <a:pPr>
              <a:buFont typeface="Arial" charset="0"/>
              <a:buChar char="•"/>
            </a:pPr>
            <a:endParaRPr lang="en-US" sz="1100" dirty="0" smtClean="0">
              <a:latin typeface="Times New Roman" pitchFamily="18" charset="0"/>
              <a:cs typeface="Times New Roman" pitchFamily="18" charset="0"/>
            </a:endParaRPr>
          </a:p>
          <a:p>
            <a:pPr>
              <a:buFont typeface="Arial" charset="0"/>
              <a:buChar char="•"/>
            </a:pPr>
            <a:endParaRPr lang="en-US" sz="900" dirty="0"/>
          </a:p>
        </p:txBody>
      </p:sp>
      <p:pic>
        <p:nvPicPr>
          <p:cNvPr id="5" name="Picture 4"/>
          <p:cNvPicPr>
            <a:picLocks noChangeAspect="1"/>
          </p:cNvPicPr>
          <p:nvPr/>
        </p:nvPicPr>
        <p:blipFill>
          <a:blip r:embed="rId4"/>
          <a:stretch>
            <a:fillRect/>
          </a:stretch>
        </p:blipFill>
        <p:spPr>
          <a:xfrm>
            <a:off x="457200" y="3322068"/>
            <a:ext cx="3352800" cy="2274332"/>
          </a:xfrm>
          <a:prstGeom prst="rect">
            <a:avLst/>
          </a:prstGeom>
        </p:spPr>
      </p:pic>
      <p:pic>
        <p:nvPicPr>
          <p:cNvPr id="6" name="Picture 5"/>
          <p:cNvPicPr>
            <a:picLocks noChangeAspect="1"/>
          </p:cNvPicPr>
          <p:nvPr/>
        </p:nvPicPr>
        <p:blipFill>
          <a:blip r:embed="rId5"/>
          <a:stretch>
            <a:fillRect/>
          </a:stretch>
        </p:blipFill>
        <p:spPr>
          <a:xfrm>
            <a:off x="3962400" y="3322069"/>
            <a:ext cx="4267200" cy="227433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pPr algn="l"/>
            <a:r>
              <a:rPr lang="en-US" sz="3200" dirty="0">
                <a:latin typeface="Times New Roman" pitchFamily="18" charset="0"/>
                <a:cs typeface="Times New Roman" pitchFamily="18" charset="0"/>
              </a:rPr>
              <a:t>Introduction</a:t>
            </a:r>
          </a:p>
        </p:txBody>
      </p:sp>
      <p:sp>
        <p:nvSpPr>
          <p:cNvPr id="3" name="Content Placeholder 2"/>
          <p:cNvSpPr>
            <a:spLocks noGrp="1"/>
          </p:cNvSpPr>
          <p:nvPr>
            <p:ph sz="quarter" idx="1"/>
          </p:nvPr>
        </p:nvSpPr>
        <p:spPr>
          <a:xfrm>
            <a:off x="457200" y="1066800"/>
            <a:ext cx="8229600" cy="5410200"/>
          </a:xfrm>
        </p:spPr>
        <p:txBody>
          <a:bodyPr>
            <a:noAutofit/>
          </a:bodyPr>
          <a:lstStyle/>
          <a:p>
            <a:pPr algn="just">
              <a:buNone/>
            </a:pPr>
            <a:r>
              <a:rPr lang="en-US" sz="2800" i="1" u="sng" dirty="0">
                <a:latin typeface="Times New Roman" pitchFamily="18" charset="0"/>
                <a:cs typeface="Times New Roman" pitchFamily="18" charset="0"/>
              </a:rPr>
              <a:t>Reinforcement Learning </a:t>
            </a:r>
            <a:r>
              <a:rPr lang="en-US" sz="2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An agent in environment who learn from there action and try to get cumulative rewards.</a:t>
            </a:r>
            <a:r>
              <a:rPr lang="en-US" dirty="0">
                <a:latin typeface="Times New Roman" pitchFamily="18" charset="0"/>
                <a:cs typeface="Times New Roman" pitchFamily="18" charset="0"/>
              </a:rPr>
              <a:t> </a:t>
            </a:r>
            <a:endParaRPr lang="en-US" u="sng" dirty="0">
              <a:latin typeface="Times New Roman" pitchFamily="18" charset="0"/>
              <a:cs typeface="Times New Roman" pitchFamily="18" charset="0"/>
            </a:endParaRPr>
          </a:p>
        </p:txBody>
      </p:sp>
      <p:pic>
        <p:nvPicPr>
          <p:cNvPr id="7" name="Picture 6" descr="rl pic 3.jpg"/>
          <p:cNvPicPr>
            <a:picLocks noChangeAspect="1"/>
          </p:cNvPicPr>
          <p:nvPr/>
        </p:nvPicPr>
        <p:blipFill>
          <a:blip r:embed="rId2"/>
          <a:stretch>
            <a:fillRect/>
          </a:stretch>
        </p:blipFill>
        <p:spPr>
          <a:xfrm>
            <a:off x="4953000" y="2819400"/>
            <a:ext cx="3581400" cy="2282651"/>
          </a:xfrm>
          <a:prstGeom prst="rect">
            <a:avLst/>
          </a:prstGeom>
        </p:spPr>
      </p:pic>
      <p:pic>
        <p:nvPicPr>
          <p:cNvPr id="8" name="Picture 7" descr="rl im.png"/>
          <p:cNvPicPr>
            <a:picLocks noChangeAspect="1"/>
          </p:cNvPicPr>
          <p:nvPr/>
        </p:nvPicPr>
        <p:blipFill>
          <a:blip r:embed="rId3"/>
          <a:stretch>
            <a:fillRect/>
          </a:stretch>
        </p:blipFill>
        <p:spPr>
          <a:xfrm>
            <a:off x="762000" y="2743200"/>
            <a:ext cx="2895600" cy="2005471"/>
          </a:xfrm>
          <a:prstGeom prst="rect">
            <a:avLst/>
          </a:prstGeom>
        </p:spPr>
      </p:pic>
      <p:sp>
        <p:nvSpPr>
          <p:cNvPr id="9" name="TextBox 8"/>
          <p:cNvSpPr txBox="1"/>
          <p:nvPr/>
        </p:nvSpPr>
        <p:spPr>
          <a:xfrm>
            <a:off x="4953000" y="5181600"/>
            <a:ext cx="3657600" cy="523220"/>
          </a:xfrm>
          <a:prstGeom prst="rect">
            <a:avLst/>
          </a:prstGeom>
          <a:noFill/>
        </p:spPr>
        <p:txBody>
          <a:bodyPr wrap="square" rtlCol="0">
            <a:spAutoFit/>
          </a:bodyPr>
          <a:lstStyle/>
          <a:p>
            <a:r>
              <a:rPr lang="en-US" sz="1400" b="1" dirty="0" smtClean="0">
                <a:latin typeface="Times New Roman" pitchFamily="18" charset="0"/>
                <a:cs typeface="Times New Roman" pitchFamily="18" charset="0"/>
              </a:rPr>
              <a:t>Figure5: </a:t>
            </a:r>
            <a:r>
              <a:rPr lang="en-US" sz="1400" b="1" dirty="0">
                <a:latin typeface="Times New Roman" pitchFamily="18" charset="0"/>
                <a:cs typeface="Times New Roman" pitchFamily="18" charset="0"/>
              </a:rPr>
              <a:t>A  sitting dog (agent) want </a:t>
            </a:r>
            <a:r>
              <a:rPr lang="en-US" sz="1400" b="1" dirty="0" smtClean="0">
                <a:latin typeface="Times New Roman" pitchFamily="18" charset="0"/>
                <a:cs typeface="Times New Roman" pitchFamily="18" charset="0"/>
              </a:rPr>
              <a:t>to walk </a:t>
            </a:r>
            <a:r>
              <a:rPr lang="en-US" sz="1400" b="1" dirty="0">
                <a:latin typeface="Times New Roman" pitchFamily="18" charset="0"/>
                <a:cs typeface="Times New Roman" pitchFamily="18" charset="0"/>
              </a:rPr>
              <a:t>,</a:t>
            </a:r>
          </a:p>
          <a:p>
            <a:r>
              <a:rPr lang="en-US" sz="1400" b="1" dirty="0">
                <a:latin typeface="Times New Roman" pitchFamily="18" charset="0"/>
                <a:cs typeface="Times New Roman" pitchFamily="18" charset="0"/>
              </a:rPr>
              <a:t> for this he will get biscuits as a reward</a:t>
            </a:r>
            <a:r>
              <a:rPr lang="en-US" sz="1400" b="1" dirty="0" smtClean="0">
                <a:latin typeface="Times New Roman" pitchFamily="18" charset="0"/>
                <a:cs typeface="Times New Roman" pitchFamily="18" charset="0"/>
              </a:rPr>
              <a:t>.</a:t>
            </a:r>
            <a:endParaRPr lang="en-US" sz="1000" b="1" dirty="0">
              <a:latin typeface="Times New Roman" pitchFamily="18" charset="0"/>
              <a:cs typeface="Times New Roman" pitchFamily="18" charset="0"/>
            </a:endParaRPr>
          </a:p>
        </p:txBody>
      </p:sp>
      <p:sp>
        <p:nvSpPr>
          <p:cNvPr id="10" name="TextBox 9"/>
          <p:cNvSpPr txBox="1"/>
          <p:nvPr/>
        </p:nvSpPr>
        <p:spPr>
          <a:xfrm>
            <a:off x="762000" y="5181600"/>
            <a:ext cx="2895600" cy="307777"/>
          </a:xfrm>
          <a:prstGeom prst="rect">
            <a:avLst/>
          </a:prstGeom>
          <a:noFill/>
        </p:spPr>
        <p:txBody>
          <a:bodyPr wrap="square" rtlCol="0">
            <a:spAutoFit/>
          </a:bodyPr>
          <a:lstStyle/>
          <a:p>
            <a:r>
              <a:rPr lang="en-US" sz="1400" b="1" dirty="0" smtClean="0">
                <a:latin typeface="Times New Roman" pitchFamily="18" charset="0"/>
                <a:cs typeface="Times New Roman" pitchFamily="18" charset="0"/>
              </a:rPr>
              <a:t>Figure4: </a:t>
            </a:r>
            <a:r>
              <a:rPr lang="en-US" sz="1400" b="1" dirty="0">
                <a:latin typeface="Times New Roman" pitchFamily="18" charset="0"/>
                <a:cs typeface="Times New Roman" pitchFamily="18" charset="0"/>
              </a:rPr>
              <a:t>Reinforcement </a:t>
            </a:r>
            <a:r>
              <a:rPr lang="en-US" sz="1400" b="1" dirty="0" smtClean="0">
                <a:latin typeface="Times New Roman" pitchFamily="18" charset="0"/>
                <a:cs typeface="Times New Roman" pitchFamily="18" charset="0"/>
              </a:rPr>
              <a:t>Learning </a:t>
            </a:r>
            <a:endParaRPr lang="en-US" sz="900" b="1" dirty="0">
              <a:latin typeface="Times New Roman" pitchFamily="18" charset="0"/>
              <a:cs typeface="Times New Roman" pitchFamily="18" charset="0"/>
            </a:endParaRPr>
          </a:p>
        </p:txBody>
      </p:sp>
      <p:sp>
        <p:nvSpPr>
          <p:cNvPr id="4" name="TextBox 3"/>
          <p:cNvSpPr txBox="1"/>
          <p:nvPr/>
        </p:nvSpPr>
        <p:spPr>
          <a:xfrm>
            <a:off x="4038600" y="6368534"/>
            <a:ext cx="668773" cy="369332"/>
          </a:xfrm>
          <a:prstGeom prst="rect">
            <a:avLst/>
          </a:prstGeom>
          <a:noFill/>
        </p:spPr>
        <p:txBody>
          <a:bodyPr wrap="none" rtlCol="0">
            <a:spAutoFit/>
          </a:bodyPr>
          <a:lstStyle/>
          <a:p>
            <a:r>
              <a:rPr lang="en-US" dirty="0"/>
              <a:t> </a:t>
            </a:r>
            <a:r>
              <a:rPr lang="en-US" dirty="0" smtClean="0"/>
              <a:t>     </a:t>
            </a:r>
            <a:r>
              <a:rPr lang="en-US" sz="1400" dirty="0" smtClean="0"/>
              <a:t>6</a:t>
            </a:r>
            <a:endParaRPr lang="en-US" sz="1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a:bodyPr>
          <a:lstStyle/>
          <a:p>
            <a:r>
              <a:rPr lang="en-IN" sz="32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sz="quarter" idx="1"/>
          </p:nvPr>
        </p:nvSpPr>
        <p:spPr>
          <a:xfrm>
            <a:off x="457200" y="1371600"/>
            <a:ext cx="8229600" cy="5181600"/>
          </a:xfrm>
        </p:spPr>
        <p:txBody>
          <a:bodyPr>
            <a:normAutofit fontScale="47500" lnSpcReduction="20000"/>
          </a:bodyPr>
          <a:lstStyle/>
          <a:p>
            <a:pPr marL="0" indent="0">
              <a:buNone/>
            </a:pPr>
            <a:r>
              <a:rPr lang="en-IN" sz="5100" i="1" u="sng" dirty="0">
                <a:latin typeface="Times New Roman" panose="02020603050405020304" pitchFamily="18" charset="0"/>
                <a:cs typeface="Times New Roman" panose="02020603050405020304" pitchFamily="18" charset="0"/>
              </a:rPr>
              <a:t>Legged </a:t>
            </a:r>
            <a:r>
              <a:rPr lang="en-IN" sz="5100" i="1" u="sng" dirty="0" smtClean="0">
                <a:latin typeface="Times New Roman" panose="02020603050405020304" pitchFamily="18" charset="0"/>
                <a:cs typeface="Times New Roman" panose="02020603050405020304" pitchFamily="18" charset="0"/>
              </a:rPr>
              <a:t>robot :</a:t>
            </a:r>
          </a:p>
          <a:p>
            <a:pPr algn="just">
              <a:buFont typeface="Wingdings" panose="05000000000000000000" pitchFamily="2" charset="2"/>
              <a:buChar char="v"/>
            </a:pPr>
            <a:r>
              <a:rPr lang="en-US" sz="3400" dirty="0">
                <a:latin typeface="Times New Roman" panose="02020603050405020304" pitchFamily="18" charset="0"/>
                <a:cs typeface="Times New Roman" panose="02020603050405020304" pitchFamily="18" charset="0"/>
              </a:rPr>
              <a:t>Legged robots are a subset of mobile robots that move by using movable limbs, such as leg </a:t>
            </a:r>
            <a:r>
              <a:rPr lang="en-US" sz="3400" dirty="0" smtClean="0">
                <a:latin typeface="Times New Roman" panose="02020603050405020304" pitchFamily="18" charset="0"/>
                <a:cs typeface="Times New Roman" panose="02020603050405020304" pitchFamily="18" charset="0"/>
              </a:rPr>
              <a:t>mechanics.</a:t>
            </a:r>
          </a:p>
          <a:p>
            <a:pPr algn="just">
              <a:buFont typeface="Wingdings" panose="05000000000000000000" pitchFamily="2" charset="2"/>
              <a:buChar char="v"/>
            </a:pPr>
            <a:endParaRPr lang="en-US" sz="3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3400" dirty="0" smtClean="0">
                <a:latin typeface="Times New Roman" panose="02020603050405020304" pitchFamily="18" charset="0"/>
                <a:cs typeface="Times New Roman" panose="02020603050405020304" pitchFamily="18" charset="0"/>
              </a:rPr>
              <a:t>One-legged</a:t>
            </a:r>
            <a:r>
              <a:rPr lang="en-US" sz="3400" dirty="0">
                <a:latin typeface="Times New Roman" panose="02020603050405020304" pitchFamily="18" charset="0"/>
                <a:cs typeface="Times New Roman" panose="02020603050405020304" pitchFamily="18" charset="0"/>
              </a:rPr>
              <a:t>, two-legged, four-legged, six-legged, eight-legged, and hybrid robots are just a few of the numerous varieties of legs that exist today.</a:t>
            </a:r>
            <a:endParaRPr lang="en-US" sz="3400" b="1" dirty="0">
              <a:latin typeface="Times New Roman" panose="02020603050405020304" pitchFamily="18" charset="0"/>
              <a:cs typeface="Times New Roman" panose="02020603050405020304" pitchFamily="18" charset="0"/>
            </a:endParaRPr>
          </a:p>
          <a:p>
            <a:pPr marL="0" indent="0" algn="just">
              <a:buNone/>
            </a:pPr>
            <a:r>
              <a:rPr lang="en-US" sz="3400" b="1" dirty="0" smtClean="0">
                <a:latin typeface="Times New Roman" panose="02020603050405020304" pitchFamily="18" charset="0"/>
                <a:cs typeface="Times New Roman" panose="02020603050405020304" pitchFamily="18" charset="0"/>
              </a:rPr>
              <a:t>                                                </a:t>
            </a:r>
          </a:p>
          <a:p>
            <a:pPr marL="0" indent="0" algn="just">
              <a:buNone/>
            </a:pPr>
            <a:r>
              <a:rPr lang="en-US" sz="2600" b="1" dirty="0">
                <a:latin typeface="Times New Roman" panose="02020603050405020304" pitchFamily="18" charset="0"/>
                <a:cs typeface="Times New Roman" panose="02020603050405020304" pitchFamily="18" charset="0"/>
              </a:rPr>
              <a:t> </a:t>
            </a:r>
            <a:r>
              <a:rPr lang="en-US" sz="2600" b="1" dirty="0" smtClean="0">
                <a:latin typeface="Times New Roman" panose="02020603050405020304" pitchFamily="18" charset="0"/>
                <a:cs typeface="Times New Roman" panose="02020603050405020304" pitchFamily="18" charset="0"/>
              </a:rPr>
              <a:t>                                        </a:t>
            </a:r>
          </a:p>
          <a:p>
            <a:pPr marL="0" indent="0">
              <a:buNone/>
            </a:pPr>
            <a:r>
              <a:rPr lang="en-US" sz="1400" b="1" dirty="0" smtClean="0">
                <a:latin typeface="Times New Roman" panose="02020603050405020304" pitchFamily="18" charset="0"/>
                <a:cs typeface="Times New Roman" panose="02020603050405020304" pitchFamily="18" charset="0"/>
              </a:rPr>
              <a:t>                                      </a:t>
            </a: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smtClean="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smtClean="0">
              <a:latin typeface="Times New Roman" panose="02020603050405020304" pitchFamily="18" charset="0"/>
              <a:cs typeface="Times New Roman" panose="02020603050405020304" pitchFamily="18" charset="0"/>
            </a:endParaRP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smtClean="0">
              <a:latin typeface="Times New Roman" panose="02020603050405020304" pitchFamily="18" charset="0"/>
              <a:cs typeface="Times New Roman" panose="02020603050405020304" pitchFamily="18" charset="0"/>
            </a:endParaRPr>
          </a:p>
          <a:p>
            <a:pPr marL="0" indent="0">
              <a:buNone/>
            </a:pPr>
            <a:r>
              <a:rPr lang="en-US" sz="1400" b="1" dirty="0" smtClean="0">
                <a:latin typeface="Times New Roman" panose="02020603050405020304" pitchFamily="18" charset="0"/>
                <a:cs typeface="Times New Roman" panose="02020603050405020304" pitchFamily="18" charset="0"/>
              </a:rPr>
              <a:t>                      </a:t>
            </a:r>
          </a:p>
          <a:p>
            <a:pPr marL="0" indent="0">
              <a:buNone/>
            </a:pPr>
            <a:r>
              <a:rPr lang="en-US" sz="1400" b="1" dirty="0">
                <a:latin typeface="Times New Roman" panose="02020603050405020304" pitchFamily="18" charset="0"/>
                <a:cs typeface="Times New Roman" panose="02020603050405020304" pitchFamily="18" charset="0"/>
              </a:rPr>
              <a:t> </a:t>
            </a:r>
            <a:r>
              <a:rPr lang="en-US" sz="1400" b="1" dirty="0" smtClean="0">
                <a:latin typeface="Times New Roman" panose="02020603050405020304" pitchFamily="18" charset="0"/>
                <a:cs typeface="Times New Roman" panose="02020603050405020304" pitchFamily="18" charset="0"/>
              </a:rPr>
              <a:t>                                                         </a:t>
            </a: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400" b="1" dirty="0" smtClean="0">
              <a:latin typeface="Times New Roman" panose="02020603050405020304" pitchFamily="18" charset="0"/>
              <a:cs typeface="Times New Roman" panose="02020603050405020304" pitchFamily="18" charset="0"/>
            </a:endParaRPr>
          </a:p>
          <a:p>
            <a:pPr marL="0" indent="0">
              <a:buNone/>
            </a:pPr>
            <a:r>
              <a:rPr lang="en-US" sz="1400" b="1" dirty="0" smtClean="0">
                <a:latin typeface="Times New Roman" panose="02020603050405020304" pitchFamily="18" charset="0"/>
                <a:cs typeface="Times New Roman" panose="02020603050405020304" pitchFamily="18" charset="0"/>
              </a:rPr>
              <a:t>                                                                                                    </a:t>
            </a:r>
            <a:r>
              <a:rPr lang="en-US" sz="3500" b="1" dirty="0" smtClean="0">
                <a:latin typeface="Times New Roman" panose="02020603050405020304" pitchFamily="18" charset="0"/>
                <a:cs typeface="Times New Roman" panose="02020603050405020304" pitchFamily="18" charset="0"/>
              </a:rPr>
              <a:t>                                                                                                  </a:t>
            </a:r>
          </a:p>
          <a:p>
            <a:pPr marL="0" indent="0">
              <a:buNone/>
            </a:pPr>
            <a:r>
              <a:rPr lang="en-US" sz="3500" b="1" dirty="0">
                <a:latin typeface="Times New Roman" panose="02020603050405020304" pitchFamily="18" charset="0"/>
                <a:cs typeface="Times New Roman" panose="02020603050405020304" pitchFamily="18" charset="0"/>
              </a:rPr>
              <a:t> </a:t>
            </a:r>
            <a:r>
              <a:rPr lang="en-US" sz="3500" b="1" dirty="0" smtClean="0">
                <a:latin typeface="Times New Roman" panose="02020603050405020304" pitchFamily="18" charset="0"/>
                <a:cs typeface="Times New Roman" panose="02020603050405020304" pitchFamily="18" charset="0"/>
              </a:rPr>
              <a:t>                                                                                             </a:t>
            </a:r>
            <a:r>
              <a:rPr lang="en-US" sz="4300" b="1" dirty="0" smtClean="0">
                <a:latin typeface="Times New Roman" panose="02020603050405020304" pitchFamily="18" charset="0"/>
                <a:cs typeface="Times New Roman" panose="02020603050405020304" pitchFamily="18" charset="0"/>
              </a:rPr>
              <a:t> </a:t>
            </a:r>
            <a:endParaRPr lang="en-US" sz="4300" b="1" dirty="0">
              <a:latin typeface="Times New Roman" panose="02020603050405020304" pitchFamily="18" charset="0"/>
              <a:cs typeface="Times New Roman" panose="02020603050405020304" pitchFamily="18" charset="0"/>
            </a:endParaRPr>
          </a:p>
          <a:p>
            <a:pPr marL="0" indent="0">
              <a:buNone/>
            </a:pPr>
            <a:r>
              <a:rPr lang="en-US" sz="3500" b="1" dirty="0">
                <a:latin typeface="Times New Roman" panose="02020603050405020304" pitchFamily="18" charset="0"/>
                <a:cs typeface="Times New Roman" panose="02020603050405020304" pitchFamily="18" charset="0"/>
              </a:rPr>
              <a:t> </a:t>
            </a:r>
            <a:endParaRPr lang="en-US" sz="3500" b="1" dirty="0" smtClean="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 </a:t>
            </a:r>
            <a:r>
              <a:rPr lang="en-US" sz="1400" b="1" dirty="0" smtClean="0">
                <a:latin typeface="Times New Roman" panose="02020603050405020304" pitchFamily="18" charset="0"/>
                <a:cs typeface="Times New Roman" panose="02020603050405020304" pitchFamily="18" charset="0"/>
              </a:rPr>
              <a:t>                                                                                      </a:t>
            </a:r>
          </a:p>
          <a:p>
            <a:pPr marL="0" indent="0">
              <a:buNone/>
            </a:pPr>
            <a:r>
              <a:rPr lang="en-US" sz="1400" b="1" dirty="0">
                <a:latin typeface="+mj-lt"/>
                <a:cs typeface="Times New Roman" panose="02020603050405020304" pitchFamily="18" charset="0"/>
              </a:rPr>
              <a:t> </a:t>
            </a:r>
            <a:r>
              <a:rPr lang="en-US" sz="1400" b="1" dirty="0" smtClean="0">
                <a:latin typeface="+mj-lt"/>
                <a:cs typeface="Times New Roman" panose="02020603050405020304" pitchFamily="18" charset="0"/>
              </a:rPr>
              <a:t>                                                                                                                                                           </a:t>
            </a:r>
            <a:r>
              <a:rPr lang="en-US" sz="2900" dirty="0" smtClean="0">
                <a:latin typeface="+mj-lt"/>
                <a:cs typeface="Times New Roman" panose="02020603050405020304" pitchFamily="18" charset="0"/>
              </a:rPr>
              <a:t> 7</a:t>
            </a:r>
            <a:endParaRPr lang="en-US" sz="2900" dirty="0">
              <a:latin typeface="+mj-lt"/>
              <a:cs typeface="Times New Roman" panose="02020603050405020304" pitchFamily="18" charset="0"/>
            </a:endParaRP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42500" t="33696" r="40833" b="39625"/>
          <a:stretch/>
        </p:blipFill>
        <p:spPr>
          <a:xfrm>
            <a:off x="2819400" y="3200400"/>
            <a:ext cx="4038600" cy="2362200"/>
          </a:xfrm>
          <a:prstGeom prst="rect">
            <a:avLst/>
          </a:prstGeom>
        </p:spPr>
      </p:pic>
    </p:spTree>
    <p:extLst>
      <p:ext uri="{BB962C8B-B14F-4D97-AF65-F5344CB8AC3E}">
        <p14:creationId xmlns:p14="http://schemas.microsoft.com/office/powerpoint/2010/main" val="25690904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467600" cy="990600"/>
          </a:xfrm>
        </p:spPr>
        <p:txBody>
          <a:bodyPr>
            <a:normAutofit/>
          </a:bodyPr>
          <a:lstStyle/>
          <a:p>
            <a:pPr algn="l"/>
            <a:r>
              <a:rPr lang="en-US" sz="3200" dirty="0">
                <a:latin typeface="Times New Roman" pitchFamily="18" charset="0"/>
                <a:cs typeface="Times New Roman" pitchFamily="18" charset="0"/>
              </a:rPr>
              <a:t>Objective</a:t>
            </a:r>
          </a:p>
        </p:txBody>
      </p:sp>
      <p:sp>
        <p:nvSpPr>
          <p:cNvPr id="3" name="Content Placeholder 2"/>
          <p:cNvSpPr>
            <a:spLocks noGrp="1"/>
          </p:cNvSpPr>
          <p:nvPr>
            <p:ph sz="quarter" idx="1"/>
          </p:nvPr>
        </p:nvSpPr>
        <p:spPr>
          <a:xfrm>
            <a:off x="457200" y="990600"/>
            <a:ext cx="8001000" cy="5638800"/>
          </a:xfrm>
        </p:spPr>
        <p:txBody>
          <a:bodyPr>
            <a:normAutofit/>
          </a:bodyPr>
          <a:lstStyle/>
          <a:p>
            <a:pPr algn="just">
              <a:buNone/>
            </a:pPr>
            <a:r>
              <a:rPr lang="en-US" sz="1800" dirty="0">
                <a:latin typeface="Times New Roman" pitchFamily="18" charset="0"/>
                <a:cs typeface="Times New Roman" pitchFamily="18" charset="0"/>
              </a:rPr>
              <a:t>Required torque  generation in order to jump on different heights using</a:t>
            </a:r>
          </a:p>
          <a:p>
            <a:pPr algn="just">
              <a:buNone/>
            </a:pPr>
            <a:r>
              <a:rPr lang="en-US" sz="1800" dirty="0">
                <a:latin typeface="Times New Roman" pitchFamily="18" charset="0"/>
                <a:cs typeface="Times New Roman" pitchFamily="18" charset="0"/>
              </a:rPr>
              <a:t>proprioceptive data using reinforcement learning.</a:t>
            </a:r>
          </a:p>
          <a:p>
            <a:pPr algn="just">
              <a:buFont typeface="Wingdings" pitchFamily="2" charset="2"/>
              <a:buChar char="q"/>
            </a:pPr>
            <a:r>
              <a:rPr lang="en-US" sz="1800" dirty="0">
                <a:latin typeface="Times New Roman" pitchFamily="18" charset="0"/>
                <a:cs typeface="Times New Roman" pitchFamily="18" charset="0"/>
              </a:rPr>
              <a:t>Robotic leg control by pd controller.</a:t>
            </a:r>
          </a:p>
          <a:p>
            <a:pPr algn="just">
              <a:buFont typeface="Wingdings" pitchFamily="2" charset="2"/>
              <a:buChar char="q"/>
            </a:pPr>
            <a:r>
              <a:rPr lang="en-US" sz="1800" dirty="0">
                <a:latin typeface="Times New Roman" pitchFamily="18" charset="0"/>
                <a:cs typeface="Times New Roman" pitchFamily="18" charset="0"/>
              </a:rPr>
              <a:t>Reinforcement learning for jumping behavior of a robotic leg.</a:t>
            </a:r>
          </a:p>
          <a:p>
            <a:pPr algn="just">
              <a:buFont typeface="Wingdings" pitchFamily="2" charset="2"/>
              <a:buChar char="q"/>
            </a:pPr>
            <a:r>
              <a:rPr lang="en-US" sz="1800" dirty="0">
                <a:latin typeface="Times New Roman" pitchFamily="18" charset="0"/>
                <a:cs typeface="Times New Roman" pitchFamily="18" charset="0"/>
              </a:rPr>
              <a:t>Applying reinforcement learning algorithm on a robotic leg for training to learn jumping.</a:t>
            </a:r>
          </a:p>
          <a:p>
            <a:pPr algn="just"/>
            <a:endParaRPr lang="en-US" sz="1800" dirty="0">
              <a:latin typeface="Times New Roman" pitchFamily="18" charset="0"/>
              <a:cs typeface="Times New Roman" pitchFamily="18" charset="0"/>
            </a:endParaRPr>
          </a:p>
          <a:p>
            <a:pPr marL="0" indent="0">
              <a:buNone/>
            </a:pPr>
            <a:endParaRPr lang="en-US" sz="1800" dirty="0">
              <a:latin typeface="Times New Roman" pitchFamily="18" charset="0"/>
              <a:cs typeface="Times New Roman" pitchFamily="18" charset="0"/>
            </a:endParaRPr>
          </a:p>
        </p:txBody>
      </p:sp>
      <p:pic>
        <p:nvPicPr>
          <p:cNvPr id="5" name="Picture 4" descr="leg image.png"/>
          <p:cNvPicPr>
            <a:picLocks noChangeAspect="1"/>
          </p:cNvPicPr>
          <p:nvPr/>
        </p:nvPicPr>
        <p:blipFill>
          <a:blip r:embed="rId2"/>
          <a:stretch>
            <a:fillRect/>
          </a:stretch>
        </p:blipFill>
        <p:spPr>
          <a:xfrm>
            <a:off x="2057400" y="3048000"/>
            <a:ext cx="3684750" cy="2430628"/>
          </a:xfrm>
          <a:prstGeom prst="rect">
            <a:avLst/>
          </a:prstGeom>
        </p:spPr>
      </p:pic>
      <p:sp>
        <p:nvSpPr>
          <p:cNvPr id="6" name="TextBox 5"/>
          <p:cNvSpPr txBox="1"/>
          <p:nvPr/>
        </p:nvSpPr>
        <p:spPr>
          <a:xfrm>
            <a:off x="304800" y="5943600"/>
            <a:ext cx="7696200" cy="615553"/>
          </a:xfrm>
          <a:prstGeom prst="rect">
            <a:avLst/>
          </a:prstGeom>
          <a:noFill/>
        </p:spPr>
        <p:txBody>
          <a:bodyPr wrap="square" rtlCol="0">
            <a:spAutoFit/>
          </a:bodyPr>
          <a:lstStyle/>
          <a:p>
            <a:r>
              <a:rPr lang="en-US" sz="800" dirty="0" smtClean="0"/>
              <a:t>**</a:t>
            </a:r>
            <a:r>
              <a:rPr lang="en-US" sz="800" dirty="0" err="1" smtClean="0"/>
              <a:t>Bhashkar</a:t>
            </a:r>
            <a:r>
              <a:rPr lang="en-US" sz="800" dirty="0" smtClean="0"/>
              <a:t>, A., Sharma, A.K. (2023). Experimental Analysis on Different Terrains Using </a:t>
            </a:r>
            <a:r>
              <a:rPr lang="en-US" sz="800" dirty="0" err="1" smtClean="0"/>
              <a:t>Proprioceptive</a:t>
            </a:r>
            <a:r>
              <a:rPr lang="en-US" sz="800" dirty="0" smtClean="0"/>
              <a:t> Information of One Leg of Quadruped Robot. In: </a:t>
            </a:r>
            <a:r>
              <a:rPr lang="en-US" sz="800" dirty="0" err="1" smtClean="0"/>
              <a:t>Yadav</a:t>
            </a:r>
            <a:r>
              <a:rPr lang="en-US" sz="800" dirty="0" smtClean="0"/>
              <a:t>, S., Jain, P.K., </a:t>
            </a:r>
            <a:r>
              <a:rPr lang="en-US" sz="800" dirty="0" err="1" smtClean="0"/>
              <a:t>Kankar</a:t>
            </a:r>
            <a:r>
              <a:rPr lang="en-US" sz="800" dirty="0" smtClean="0"/>
              <a:t>, P.K., </a:t>
            </a:r>
            <a:r>
              <a:rPr lang="en-US" sz="800" dirty="0" err="1" smtClean="0"/>
              <a:t>Shrivastava</a:t>
            </a:r>
            <a:r>
              <a:rPr lang="en-US" sz="800" dirty="0" smtClean="0"/>
              <a:t>, Y. (</a:t>
            </a:r>
            <a:r>
              <a:rPr lang="en-US" sz="800" dirty="0" err="1" smtClean="0"/>
              <a:t>eds</a:t>
            </a:r>
            <a:r>
              <a:rPr lang="en-US" sz="800" dirty="0" smtClean="0"/>
              <a:t>) Advances in Mechanical and Energy Technology. Lecture Notes in Mechanical Engineering. Springer, Singapore. </a:t>
            </a:r>
            <a:r>
              <a:rPr lang="en-US" sz="800" dirty="0" smtClean="0">
                <a:hlinkClick r:id="rId3"/>
              </a:rPr>
              <a:t>https://doi.org/10.1007/978-981-19-1618-2_12</a:t>
            </a:r>
            <a:r>
              <a:rPr lang="en-US" dirty="0" smtClean="0"/>
              <a:t>                      </a:t>
            </a:r>
            <a:r>
              <a:rPr lang="en-US" sz="1400" dirty="0" smtClean="0">
                <a:latin typeface="+mj-lt"/>
              </a:rPr>
              <a:t>8</a:t>
            </a:r>
            <a:endParaRPr lang="en-US" sz="1400" dirty="0">
              <a:latin typeface="+mj-lt"/>
              <a:cs typeface="Times New Roman" pitchFamily="18" charset="0"/>
            </a:endParaRPr>
          </a:p>
        </p:txBody>
      </p:sp>
      <p:sp>
        <p:nvSpPr>
          <p:cNvPr id="7" name="TextBox 6"/>
          <p:cNvSpPr txBox="1"/>
          <p:nvPr/>
        </p:nvSpPr>
        <p:spPr>
          <a:xfrm>
            <a:off x="3276600" y="5638800"/>
            <a:ext cx="1741118" cy="307777"/>
          </a:xfrm>
          <a:prstGeom prst="rect">
            <a:avLst/>
          </a:prstGeom>
          <a:noFill/>
        </p:spPr>
        <p:txBody>
          <a:bodyPr wrap="none" rtlCol="0">
            <a:spAutoFit/>
          </a:bodyPr>
          <a:lstStyle/>
          <a:p>
            <a:r>
              <a:rPr lang="en-US" sz="1400" b="1" dirty="0" smtClean="0">
                <a:latin typeface="Times New Roman" pitchFamily="18" charset="0"/>
                <a:cs typeface="Times New Roman" pitchFamily="18" charset="0"/>
              </a:rPr>
              <a:t>Figure 7: Bob image</a:t>
            </a:r>
            <a:endParaRPr lang="en-US" sz="14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dirty="0">
                <a:latin typeface="Times New Roman" pitchFamily="18" charset="0"/>
                <a:cs typeface="Times New Roman" pitchFamily="18" charset="0"/>
              </a:rPr>
              <a:t>Motivation</a:t>
            </a:r>
          </a:p>
        </p:txBody>
      </p:sp>
      <p:sp>
        <p:nvSpPr>
          <p:cNvPr id="3" name="Content Placeholder 2"/>
          <p:cNvSpPr>
            <a:spLocks noGrp="1"/>
          </p:cNvSpPr>
          <p:nvPr>
            <p:ph sz="quarter" idx="1"/>
          </p:nvPr>
        </p:nvSpPr>
        <p:spPr/>
        <p:txBody>
          <a:bodyPr>
            <a:normAutofit/>
          </a:bodyPr>
          <a:lstStyle/>
          <a:p>
            <a:r>
              <a:rPr lang="en-US" sz="1800" dirty="0">
                <a:latin typeface="Times New Roman" pitchFamily="18" charset="0"/>
                <a:cs typeface="Times New Roman" pitchFamily="18" charset="0"/>
              </a:rPr>
              <a:t>Athleticism in Nature </a:t>
            </a:r>
          </a:p>
          <a:p>
            <a:r>
              <a:rPr lang="en-US" sz="1800" dirty="0">
                <a:latin typeface="Times New Roman" pitchFamily="18" charset="0"/>
                <a:cs typeface="Times New Roman" pitchFamily="18" charset="0"/>
              </a:rPr>
              <a:t>Agility</a:t>
            </a:r>
          </a:p>
          <a:p>
            <a:r>
              <a:rPr lang="en-US" sz="1800" dirty="0">
                <a:latin typeface="Times New Roman" pitchFamily="18" charset="0"/>
                <a:cs typeface="Times New Roman" pitchFamily="18" charset="0"/>
              </a:rPr>
              <a:t>Hopping  behavior in Nature</a:t>
            </a:r>
          </a:p>
          <a:p>
            <a:pPr>
              <a:buNone/>
            </a:pPr>
            <a:endParaRPr lang="en-US" sz="18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a:p>
            <a:pPr>
              <a:buNone/>
            </a:pPr>
            <a:r>
              <a:rPr lang="en-US" sz="1800" dirty="0">
                <a:latin typeface="Times New Roman" pitchFamily="18" charset="0"/>
                <a:cs typeface="Times New Roman" pitchFamily="18" charset="0"/>
              </a:rPr>
              <a:t>How animals and humans learn</a:t>
            </a:r>
          </a:p>
          <a:p>
            <a:pPr>
              <a:buNone/>
            </a:pPr>
            <a:r>
              <a:rPr lang="en-US" sz="1800" dirty="0">
                <a:latin typeface="Times New Roman" pitchFamily="18" charset="0"/>
                <a:cs typeface="Times New Roman" pitchFamily="18" charset="0"/>
              </a:rPr>
              <a:t>or train to do such dynamic maneuver</a:t>
            </a:r>
            <a:r>
              <a:rPr lang="en-US" sz="1800" dirty="0" smtClean="0">
                <a:latin typeface="Times New Roman" pitchFamily="18" charset="0"/>
                <a:cs typeface="Times New Roman" pitchFamily="18" charset="0"/>
              </a:rPr>
              <a:t>?</a:t>
            </a:r>
          </a:p>
          <a:p>
            <a:pPr>
              <a:buNone/>
            </a:pPr>
            <a:endParaRPr lang="en-US"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How to apply that experiences of </a:t>
            </a:r>
          </a:p>
          <a:p>
            <a:pPr>
              <a:buNone/>
            </a:pPr>
            <a:r>
              <a:rPr lang="en-US" sz="1800" dirty="0" smtClean="0">
                <a:latin typeface="Times New Roman" pitchFamily="18" charset="0"/>
                <a:cs typeface="Times New Roman" pitchFamily="18" charset="0"/>
              </a:rPr>
              <a:t>dynamics maneuver in robots?</a:t>
            </a:r>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p:txBody>
      </p:sp>
      <p:pic>
        <p:nvPicPr>
          <p:cNvPr id="4" name="Picture 3" descr="Jump.jpg"/>
          <p:cNvPicPr>
            <a:picLocks noChangeAspect="1"/>
          </p:cNvPicPr>
          <p:nvPr/>
        </p:nvPicPr>
        <p:blipFill>
          <a:blip r:embed="rId2" cstate="print"/>
          <a:stretch>
            <a:fillRect/>
          </a:stretch>
        </p:blipFill>
        <p:spPr>
          <a:xfrm>
            <a:off x="4495800" y="1219200"/>
            <a:ext cx="2540000" cy="1428750"/>
          </a:xfrm>
          <a:prstGeom prst="rect">
            <a:avLst/>
          </a:prstGeom>
        </p:spPr>
      </p:pic>
      <p:pic>
        <p:nvPicPr>
          <p:cNvPr id="5" name="Picture 4" descr="vertical  jump.jpg"/>
          <p:cNvPicPr>
            <a:picLocks noChangeAspect="1"/>
          </p:cNvPicPr>
          <p:nvPr/>
        </p:nvPicPr>
        <p:blipFill>
          <a:blip r:embed="rId3"/>
          <a:stretch>
            <a:fillRect/>
          </a:stretch>
        </p:blipFill>
        <p:spPr>
          <a:xfrm>
            <a:off x="7010400" y="3886200"/>
            <a:ext cx="1828800" cy="1828800"/>
          </a:xfrm>
          <a:prstGeom prst="rect">
            <a:avLst/>
          </a:prstGeom>
        </p:spPr>
      </p:pic>
      <p:pic>
        <p:nvPicPr>
          <p:cNvPr id="6" name="Picture 5" descr="animal jump.jpg"/>
          <p:cNvPicPr>
            <a:picLocks noChangeAspect="1"/>
          </p:cNvPicPr>
          <p:nvPr/>
        </p:nvPicPr>
        <p:blipFill>
          <a:blip r:embed="rId4"/>
          <a:stretch>
            <a:fillRect/>
          </a:stretch>
        </p:blipFill>
        <p:spPr>
          <a:xfrm>
            <a:off x="4114800" y="3429000"/>
            <a:ext cx="2515453" cy="2362200"/>
          </a:xfrm>
          <a:prstGeom prst="rect">
            <a:avLst/>
          </a:prstGeom>
        </p:spPr>
      </p:pic>
      <p:sp>
        <p:nvSpPr>
          <p:cNvPr id="9" name="TextBox 8"/>
          <p:cNvSpPr txBox="1"/>
          <p:nvPr/>
        </p:nvSpPr>
        <p:spPr>
          <a:xfrm>
            <a:off x="3886199" y="2724150"/>
            <a:ext cx="3733801" cy="276999"/>
          </a:xfrm>
          <a:prstGeom prst="rect">
            <a:avLst/>
          </a:prstGeom>
          <a:noFill/>
        </p:spPr>
        <p:txBody>
          <a:bodyPr wrap="square" rtlCol="0">
            <a:spAutoFit/>
          </a:bodyPr>
          <a:lstStyle/>
          <a:p>
            <a:r>
              <a:rPr lang="en-US" sz="1200" b="1" dirty="0" smtClean="0">
                <a:latin typeface="Times New Roman" pitchFamily="18" charset="0"/>
                <a:cs typeface="Times New Roman" pitchFamily="18" charset="0"/>
              </a:rPr>
              <a:t>        Figure8: </a:t>
            </a:r>
            <a:r>
              <a:rPr lang="en-US" sz="1200" b="1" dirty="0">
                <a:latin typeface="Times New Roman" pitchFamily="18" charset="0"/>
                <a:cs typeface="Times New Roman" pitchFamily="18" charset="0"/>
              </a:rPr>
              <a:t>A man trying to jump </a:t>
            </a:r>
            <a:r>
              <a:rPr lang="en-US" sz="1200" b="1" dirty="0" smtClean="0">
                <a:latin typeface="Times New Roman" pitchFamily="18" charset="0"/>
                <a:cs typeface="Times New Roman" pitchFamily="18" charset="0"/>
              </a:rPr>
              <a:t>on a </a:t>
            </a:r>
            <a:r>
              <a:rPr lang="en-US" sz="1200" b="1" dirty="0">
                <a:latin typeface="Times New Roman" pitchFamily="18" charset="0"/>
                <a:cs typeface="Times New Roman" pitchFamily="18" charset="0"/>
              </a:rPr>
              <a:t>given </a:t>
            </a:r>
            <a:r>
              <a:rPr lang="en-US" sz="1200" b="1" dirty="0" smtClean="0">
                <a:latin typeface="Times New Roman" pitchFamily="18" charset="0"/>
                <a:cs typeface="Times New Roman" pitchFamily="18" charset="0"/>
              </a:rPr>
              <a:t>height. </a:t>
            </a:r>
            <a:endParaRPr lang="en-US" sz="1200" b="1" dirty="0">
              <a:latin typeface="Times New Roman" pitchFamily="18" charset="0"/>
              <a:cs typeface="Times New Roman" pitchFamily="18" charset="0"/>
            </a:endParaRPr>
          </a:p>
        </p:txBody>
      </p:sp>
      <p:sp>
        <p:nvSpPr>
          <p:cNvPr id="11" name="TextBox 10"/>
          <p:cNvSpPr txBox="1"/>
          <p:nvPr/>
        </p:nvSpPr>
        <p:spPr>
          <a:xfrm>
            <a:off x="4191000" y="5943600"/>
            <a:ext cx="2195281" cy="276999"/>
          </a:xfrm>
          <a:prstGeom prst="rect">
            <a:avLst/>
          </a:prstGeom>
          <a:noFill/>
        </p:spPr>
        <p:txBody>
          <a:bodyPr wrap="none" rtlCol="0">
            <a:spAutoFit/>
          </a:bodyPr>
          <a:lstStyle/>
          <a:p>
            <a:r>
              <a:rPr lang="en-US" sz="1200" b="1" dirty="0" smtClean="0">
                <a:latin typeface="Times New Roman" pitchFamily="18" charset="0"/>
                <a:cs typeface="Times New Roman" pitchFamily="18" charset="0"/>
              </a:rPr>
              <a:t>Figure9: </a:t>
            </a:r>
            <a:r>
              <a:rPr lang="en-US" sz="1200" b="1" dirty="0">
                <a:latin typeface="Times New Roman" pitchFamily="18" charset="0"/>
                <a:cs typeface="Times New Roman" pitchFamily="18" charset="0"/>
              </a:rPr>
              <a:t>Animals leg </a:t>
            </a:r>
            <a:r>
              <a:rPr lang="en-US" sz="1200" b="1" dirty="0" smtClean="0">
                <a:latin typeface="Times New Roman" pitchFamily="18" charset="0"/>
                <a:cs typeface="Times New Roman" pitchFamily="18" charset="0"/>
              </a:rPr>
              <a:t>structure</a:t>
            </a:r>
            <a:endParaRPr lang="en-US" sz="1200" b="1" dirty="0">
              <a:latin typeface="Times New Roman" pitchFamily="18" charset="0"/>
              <a:cs typeface="Times New Roman" pitchFamily="18" charset="0"/>
            </a:endParaRPr>
          </a:p>
        </p:txBody>
      </p:sp>
      <p:sp>
        <p:nvSpPr>
          <p:cNvPr id="12" name="TextBox 11"/>
          <p:cNvSpPr txBox="1"/>
          <p:nvPr/>
        </p:nvSpPr>
        <p:spPr>
          <a:xfrm>
            <a:off x="6477000" y="5867400"/>
            <a:ext cx="2640632" cy="276999"/>
          </a:xfrm>
          <a:prstGeom prst="rect">
            <a:avLst/>
          </a:prstGeom>
          <a:noFill/>
        </p:spPr>
        <p:txBody>
          <a:bodyPr wrap="square" rtlCol="0">
            <a:spAutoFit/>
          </a:bodyPr>
          <a:lstStyle/>
          <a:p>
            <a:r>
              <a:rPr lang="en-US" sz="1200" b="1" dirty="0" smtClean="0">
                <a:latin typeface="Times New Roman" pitchFamily="18" charset="0"/>
                <a:cs typeface="Times New Roman" pitchFamily="18" charset="0"/>
              </a:rPr>
              <a:t>Figure10: </a:t>
            </a:r>
            <a:r>
              <a:rPr lang="en-US" sz="1200" b="1" dirty="0">
                <a:latin typeface="Times New Roman" pitchFamily="18" charset="0"/>
                <a:cs typeface="Times New Roman" pitchFamily="18" charset="0"/>
              </a:rPr>
              <a:t>human </a:t>
            </a:r>
            <a:r>
              <a:rPr lang="en-US" sz="1200" b="1" dirty="0" smtClean="0">
                <a:latin typeface="Times New Roman" pitchFamily="18" charset="0"/>
                <a:cs typeface="Times New Roman" pitchFamily="18" charset="0"/>
              </a:rPr>
              <a:t>jumping Behavior </a:t>
            </a:r>
            <a:endParaRPr lang="en-US" sz="1200" b="1" dirty="0">
              <a:latin typeface="Times New Roman" pitchFamily="18" charset="0"/>
              <a:cs typeface="Times New Roman" pitchFamily="18" charset="0"/>
            </a:endParaRPr>
          </a:p>
        </p:txBody>
      </p:sp>
      <p:sp>
        <p:nvSpPr>
          <p:cNvPr id="7" name="TextBox 6"/>
          <p:cNvSpPr txBox="1"/>
          <p:nvPr/>
        </p:nvSpPr>
        <p:spPr>
          <a:xfrm>
            <a:off x="3734288" y="6261598"/>
            <a:ext cx="1523511" cy="369332"/>
          </a:xfrm>
          <a:prstGeom prst="rect">
            <a:avLst/>
          </a:prstGeom>
          <a:noFill/>
        </p:spPr>
        <p:txBody>
          <a:bodyPr wrap="square" rtlCol="0">
            <a:spAutoFit/>
          </a:bodyPr>
          <a:lstStyle/>
          <a:p>
            <a:r>
              <a:rPr lang="en-US" dirty="0" smtClean="0"/>
              <a:t>            </a:t>
            </a:r>
            <a:r>
              <a:rPr lang="en-US" sz="1400" dirty="0" smtClean="0">
                <a:latin typeface="+mj-lt"/>
              </a:rPr>
              <a:t>9</a:t>
            </a:r>
            <a:endParaRPr lang="en-US" sz="1400" dirty="0">
              <a:latin typeface="+mj-lt"/>
            </a:endParaRPr>
          </a:p>
        </p:txBody>
      </p:sp>
      <p:sp>
        <p:nvSpPr>
          <p:cNvPr id="13" name="TextBox 12"/>
          <p:cNvSpPr txBox="1"/>
          <p:nvPr/>
        </p:nvSpPr>
        <p:spPr>
          <a:xfrm>
            <a:off x="381000" y="5562600"/>
            <a:ext cx="3505199" cy="1000274"/>
          </a:xfrm>
          <a:prstGeom prst="rect">
            <a:avLst/>
          </a:prstGeom>
          <a:noFill/>
        </p:spPr>
        <p:txBody>
          <a:bodyPr wrap="square" rtlCol="0">
            <a:spAutoFit/>
          </a:bodyPr>
          <a:lstStyle/>
          <a:p>
            <a:r>
              <a:rPr lang="en-US" sz="1100" dirty="0" smtClean="0"/>
              <a:t>[1] </a:t>
            </a:r>
            <a:r>
              <a:rPr lang="en-US" sz="800" dirty="0" smtClean="0"/>
              <a:t>https://www.istockphoto.com/photo/low-section-of-fit-male-athlete-box-jumping-in-gym-gm588385480-101049223</a:t>
            </a:r>
          </a:p>
          <a:p>
            <a:endParaRPr lang="en-US" sz="800" dirty="0" smtClean="0"/>
          </a:p>
          <a:p>
            <a:r>
              <a:rPr lang="en-US" sz="800" dirty="0" smtClean="0"/>
              <a:t>[2] https://www.istockphoto.com/photos/animal-behavior</a:t>
            </a:r>
          </a:p>
          <a:p>
            <a:endParaRPr lang="en-US" sz="800" dirty="0" smtClean="0"/>
          </a:p>
          <a:p>
            <a:r>
              <a:rPr lang="en-US" sz="800" dirty="0" smtClean="0"/>
              <a:t>*[3]  https://www.pngitem.com/middle/iJhTTib_human-behavior-performing-arts-silhouette-silhouette-jumping-for/</a:t>
            </a:r>
            <a:endParaRPr lang="en-US" sz="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r>
              <a:rPr lang="en-IN" dirty="0"/>
              <a:t>Theoretical Background</a:t>
            </a:r>
          </a:p>
        </p:txBody>
      </p:sp>
      <p:sp>
        <p:nvSpPr>
          <p:cNvPr id="3" name="Content Placeholder 2"/>
          <p:cNvSpPr>
            <a:spLocks noGrp="1"/>
          </p:cNvSpPr>
          <p:nvPr>
            <p:ph sz="quarter" idx="1"/>
          </p:nvPr>
        </p:nvSpPr>
        <p:spPr>
          <a:xfrm>
            <a:off x="457200" y="1295400"/>
            <a:ext cx="7467600" cy="5178552"/>
          </a:xfrm>
        </p:spPr>
        <p:txBody>
          <a:bodyPr>
            <a:normAutofit lnSpcReduction="10000"/>
          </a:bodyPr>
          <a:lstStyle/>
          <a:p>
            <a:pPr marL="0" indent="0">
              <a:buNone/>
            </a:pPr>
            <a:r>
              <a:rPr lang="en-IN" sz="2800" i="1" u="sng" dirty="0" smtClean="0">
                <a:latin typeface="Times New Roman" panose="02020603050405020304" pitchFamily="18" charset="0"/>
                <a:cs typeface="Times New Roman" panose="02020603050405020304" pitchFamily="18" charset="0"/>
              </a:rPr>
              <a:t>Dynamics:</a:t>
            </a: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The two types of dynamics are linear dynamics and </a:t>
            </a:r>
            <a:r>
              <a:rPr lang="en-US" sz="1600" dirty="0" smtClean="0">
                <a:latin typeface="Times New Roman" panose="02020603050405020304" pitchFamily="18" charset="0"/>
                <a:cs typeface="Times New Roman" panose="02020603050405020304" pitchFamily="18" charset="0"/>
              </a:rPr>
              <a:t>rotational </a:t>
            </a:r>
            <a:r>
              <a:rPr lang="en-US" sz="1600" dirty="0">
                <a:latin typeface="Times New Roman" panose="02020603050405020304" pitchFamily="18" charset="0"/>
                <a:cs typeface="Times New Roman" panose="02020603050405020304" pitchFamily="18" charset="0"/>
              </a:rPr>
              <a:t>dynamics</a:t>
            </a:r>
            <a:r>
              <a:rPr lang="en-US" sz="16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Linear </a:t>
            </a:r>
            <a:r>
              <a:rPr lang="en-US" sz="1600" dirty="0">
                <a:latin typeface="Times New Roman" panose="02020603050405020304" pitchFamily="18" charset="0"/>
                <a:cs typeface="Times New Roman" panose="02020603050405020304" pitchFamily="18" charset="0"/>
              </a:rPr>
              <a:t>dynamics takes into account variables like force, mass/inertia </a:t>
            </a:r>
            <a:r>
              <a:rPr lang="en-US" sz="1600" dirty="0" smtClean="0">
                <a:latin typeface="Times New Roman" panose="02020603050405020304" pitchFamily="18" charset="0"/>
                <a:cs typeface="Times New Roman" panose="02020603050405020304" pitchFamily="18" charset="0"/>
              </a:rPr>
              <a:t>displacement, velocity, </a:t>
            </a:r>
            <a:r>
              <a:rPr lang="en-US" sz="1600" dirty="0">
                <a:latin typeface="Times New Roman" panose="02020603050405020304" pitchFamily="18" charset="0"/>
                <a:cs typeface="Times New Roman" panose="02020603050405020304" pitchFamily="18" charset="0"/>
              </a:rPr>
              <a:t>acceleration ,</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and momentum when it comes to moving objects in a straight </a:t>
            </a:r>
            <a:r>
              <a:rPr lang="en-US" sz="1600" dirty="0" smtClean="0">
                <a:latin typeface="Times New Roman" panose="02020603050405020304" pitchFamily="18" charset="0"/>
                <a:cs typeface="Times New Roman" panose="02020603050405020304" pitchFamily="18" charset="0"/>
              </a:rPr>
              <a:t>line.</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Torque, moment of inertia/rotational inertia, angular </a:t>
            </a:r>
            <a:r>
              <a:rPr lang="en-US" sz="1600" dirty="0" smtClean="0">
                <a:latin typeface="Times New Roman" panose="02020603050405020304" pitchFamily="18" charset="0"/>
                <a:cs typeface="Times New Roman" panose="02020603050405020304" pitchFamily="18" charset="0"/>
              </a:rPr>
              <a:t>displacement, angular velocity, </a:t>
            </a:r>
            <a:r>
              <a:rPr lang="en-US" sz="1600" dirty="0">
                <a:latin typeface="Times New Roman" panose="02020603050405020304" pitchFamily="18" charset="0"/>
                <a:cs typeface="Times New Roman" panose="02020603050405020304" pitchFamily="18" charset="0"/>
              </a:rPr>
              <a:t>angular </a:t>
            </a:r>
            <a:r>
              <a:rPr lang="en-US" sz="1600" dirty="0" smtClean="0">
                <a:latin typeface="Times New Roman" panose="02020603050405020304" pitchFamily="18" charset="0"/>
                <a:cs typeface="Times New Roman" panose="02020603050405020304" pitchFamily="18" charset="0"/>
              </a:rPr>
              <a:t>acceleration, </a:t>
            </a:r>
            <a:r>
              <a:rPr lang="en-US" sz="1600" dirty="0">
                <a:latin typeface="Times New Roman" panose="02020603050405020304" pitchFamily="18" charset="0"/>
                <a:cs typeface="Times New Roman" panose="02020603050405020304" pitchFamily="18" charset="0"/>
              </a:rPr>
              <a:t>and angular momentum are certain aspects of rotational </a:t>
            </a:r>
            <a:r>
              <a:rPr lang="en-US" sz="1600" dirty="0" smtClean="0">
                <a:latin typeface="Times New Roman" panose="02020603050405020304" pitchFamily="18" charset="0"/>
                <a:cs typeface="Times New Roman" panose="02020603050405020304" pitchFamily="18" charset="0"/>
              </a:rPr>
              <a:t>dynamics. </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Dynamics are really play a vital role to move any body and we are working on a leg so here dynamics are so much important</a:t>
            </a:r>
            <a:r>
              <a:rPr lang="en-US" sz="16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smtClean="0">
                <a:latin typeface="+mj-lt"/>
                <a:cs typeface="Times New Roman" panose="02020603050405020304" pitchFamily="18" charset="0"/>
              </a:rPr>
              <a:t>                                                              </a:t>
            </a:r>
            <a:r>
              <a:rPr lang="en-US" sz="1400" dirty="0" smtClean="0">
                <a:latin typeface="+mj-lt"/>
                <a:cs typeface="Times New Roman" panose="02020603050405020304" pitchFamily="18" charset="0"/>
              </a:rPr>
              <a:t>10</a:t>
            </a:r>
            <a:endParaRPr lang="en-IN" sz="1400" dirty="0">
              <a:latin typeface="+mj-lt"/>
              <a:cs typeface="Times New Roman" panose="02020603050405020304" pitchFamily="18" charset="0"/>
            </a:endParaRPr>
          </a:p>
        </p:txBody>
      </p:sp>
    </p:spTree>
    <p:extLst>
      <p:ext uri="{BB962C8B-B14F-4D97-AF65-F5344CB8AC3E}">
        <p14:creationId xmlns:p14="http://schemas.microsoft.com/office/powerpoint/2010/main" val="23664801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lstStyle/>
          <a:p>
            <a:r>
              <a:rPr lang="en-IN" dirty="0"/>
              <a:t>Theoretical Background</a:t>
            </a:r>
          </a:p>
        </p:txBody>
      </p:sp>
      <p:sp>
        <p:nvSpPr>
          <p:cNvPr id="3" name="Content Placeholder 2"/>
          <p:cNvSpPr>
            <a:spLocks noGrp="1"/>
          </p:cNvSpPr>
          <p:nvPr>
            <p:ph sz="quarter" idx="1"/>
          </p:nvPr>
        </p:nvSpPr>
        <p:spPr>
          <a:xfrm>
            <a:off x="457200" y="1371600"/>
            <a:ext cx="7467600" cy="5102352"/>
          </a:xfrm>
        </p:spPr>
        <p:txBody>
          <a:bodyPr>
            <a:normAutofit fontScale="92500" lnSpcReduction="10000"/>
          </a:bodyPr>
          <a:lstStyle/>
          <a:p>
            <a:pPr marL="0" indent="0">
              <a:buNone/>
            </a:pPr>
            <a:r>
              <a:rPr lang="en-IN" sz="2800" i="1" u="sng" dirty="0" smtClean="0">
                <a:latin typeface="Times New Roman" panose="02020603050405020304" pitchFamily="18" charset="0"/>
                <a:cs typeface="Times New Roman" panose="02020603050405020304" pitchFamily="18" charset="0"/>
              </a:rPr>
              <a:t>Kinematics:</a:t>
            </a:r>
          </a:p>
          <a:p>
            <a:pPr algn="just">
              <a:buFont typeface="Wingdings" panose="05000000000000000000" pitchFamily="2" charset="2"/>
              <a:buChar char="v"/>
            </a:pPr>
            <a:r>
              <a:rPr lang="en-US" sz="1700" dirty="0">
                <a:latin typeface="Times New Roman" panose="02020603050405020304" pitchFamily="18" charset="0"/>
                <a:cs typeface="Times New Roman" panose="02020603050405020304" pitchFamily="18" charset="0"/>
              </a:rPr>
              <a:t>An engine, a robotic arm, or the human skeleton are examples of multi-link systems, and the motion of these systems is referred to as kinematics. </a:t>
            </a:r>
            <a:endParaRPr lang="en-US" sz="17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7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700" dirty="0" smtClean="0">
                <a:latin typeface="Times New Roman" panose="02020603050405020304" pitchFamily="18" charset="0"/>
                <a:cs typeface="Times New Roman" panose="02020603050405020304" pitchFamily="18" charset="0"/>
              </a:rPr>
              <a:t>It </a:t>
            </a:r>
            <a:r>
              <a:rPr lang="en-US" sz="1700" dirty="0">
                <a:latin typeface="Times New Roman" panose="02020603050405020304" pitchFamily="18" charset="0"/>
                <a:cs typeface="Times New Roman" panose="02020603050405020304" pitchFamily="18" charset="0"/>
              </a:rPr>
              <a:t>is </a:t>
            </a:r>
            <a:r>
              <a:rPr lang="en-US" sz="1700" dirty="0" smtClean="0">
                <a:latin typeface="Times New Roman" panose="02020603050405020304" pitchFamily="18" charset="0"/>
                <a:cs typeface="Times New Roman" panose="02020603050405020304" pitchFamily="18" charset="0"/>
              </a:rPr>
              <a:t>utilized </a:t>
            </a:r>
            <a:r>
              <a:rPr lang="en-US" sz="1700" dirty="0">
                <a:latin typeface="Times New Roman" panose="02020603050405020304" pitchFamily="18" charset="0"/>
                <a:cs typeface="Times New Roman" panose="02020603050405020304" pitchFamily="18" charset="0"/>
              </a:rPr>
              <a:t>in biomechanics, robotics, and mechanical engineering. To describe the spatial positions of bodies or systems of material particles, as well as their speeds and velocities, is the aim of kinematics (acceleration</a:t>
            </a:r>
            <a:r>
              <a:rPr lang="en-US" sz="17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sz="17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700" dirty="0" smtClean="0">
                <a:latin typeface="Times New Roman" panose="02020603050405020304" pitchFamily="18" charset="0"/>
                <a:cs typeface="Times New Roman" panose="02020603050405020304" pitchFamily="18" charset="0"/>
              </a:rPr>
              <a:t>There are two types of Kinematics are use in this project –</a:t>
            </a:r>
          </a:p>
          <a:p>
            <a:pPr algn="just">
              <a:buFont typeface="Wingdings" panose="05000000000000000000" pitchFamily="2" charset="2"/>
              <a:buChar char="Ø"/>
            </a:pPr>
            <a:r>
              <a:rPr lang="en-US" sz="1700" dirty="0" smtClean="0">
                <a:latin typeface="Times New Roman" panose="02020603050405020304" pitchFamily="18" charset="0"/>
                <a:cs typeface="Times New Roman" panose="02020603050405020304" pitchFamily="18" charset="0"/>
              </a:rPr>
              <a:t>     Forward Kinematics</a:t>
            </a:r>
          </a:p>
          <a:p>
            <a:pPr algn="just">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 </a:t>
            </a:r>
            <a:r>
              <a:rPr lang="en-US" sz="1700" dirty="0" smtClean="0">
                <a:latin typeface="Times New Roman" panose="02020603050405020304" pitchFamily="18" charset="0"/>
                <a:cs typeface="Times New Roman" panose="02020603050405020304" pitchFamily="18" charset="0"/>
              </a:rPr>
              <a:t>    Inverse Kinematics     </a:t>
            </a:r>
          </a:p>
          <a:p>
            <a:pPr marL="0" indent="0" algn="just">
              <a:buNone/>
            </a:pPr>
            <a:r>
              <a:rPr lang="en-US" sz="1700" dirty="0">
                <a:latin typeface="Times New Roman" panose="02020603050405020304" pitchFamily="18" charset="0"/>
                <a:cs typeface="Times New Roman" panose="02020603050405020304" pitchFamily="18" charset="0"/>
              </a:rPr>
              <a:t> </a:t>
            </a:r>
            <a:r>
              <a:rPr lang="en-US" sz="1700" dirty="0" smtClean="0">
                <a:latin typeface="Times New Roman" panose="02020603050405020304" pitchFamily="18" charset="0"/>
                <a:cs typeface="Times New Roman" panose="02020603050405020304" pitchFamily="18" charset="0"/>
              </a:rPr>
              <a:t>                                                                                                                                         </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smtClean="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smtClean="0">
                <a:latin typeface="Times New Roman" panose="02020603050405020304" pitchFamily="18" charset="0"/>
                <a:cs typeface="Times New Roman" panose="02020603050405020304" pitchFamily="18" charset="0"/>
              </a:rPr>
              <a:t>                                                                       </a:t>
            </a:r>
          </a:p>
          <a:p>
            <a:pPr marL="0" indent="0" algn="just">
              <a:buNone/>
            </a:pPr>
            <a:r>
              <a:rPr lang="en-US" sz="1600" dirty="0" smtClean="0">
                <a:latin typeface="Times New Roman" panose="02020603050405020304" pitchFamily="18" charset="0"/>
                <a:cs typeface="Times New Roman" panose="02020603050405020304" pitchFamily="18" charset="0"/>
              </a:rPr>
              <a:t>                                                                         </a:t>
            </a:r>
            <a:r>
              <a:rPr lang="en-US" sz="1500" dirty="0" smtClean="0">
                <a:latin typeface="+mj-lt"/>
                <a:cs typeface="Times New Roman" panose="02020603050405020304" pitchFamily="18" charset="0"/>
              </a:rPr>
              <a:t>11</a:t>
            </a:r>
            <a:endParaRPr lang="en-IN" sz="1500" dirty="0">
              <a:latin typeface="+mj-lt"/>
              <a:cs typeface="Times New Roman" panose="02020603050405020304" pitchFamily="18" charset="0"/>
            </a:endParaRPr>
          </a:p>
        </p:txBody>
      </p:sp>
    </p:spTree>
    <p:extLst>
      <p:ext uri="{BB962C8B-B14F-4D97-AF65-F5344CB8AC3E}">
        <p14:creationId xmlns:p14="http://schemas.microsoft.com/office/powerpoint/2010/main" val="39502563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IN" dirty="0"/>
              <a:t>Theoretical Background</a:t>
            </a:r>
          </a:p>
        </p:txBody>
      </p:sp>
      <p:sp>
        <p:nvSpPr>
          <p:cNvPr id="3" name="Content Placeholder 2"/>
          <p:cNvSpPr>
            <a:spLocks noGrp="1"/>
          </p:cNvSpPr>
          <p:nvPr>
            <p:ph sz="quarter" idx="1"/>
          </p:nvPr>
        </p:nvSpPr>
        <p:spPr>
          <a:xfrm>
            <a:off x="457200" y="1219200"/>
            <a:ext cx="7467600" cy="5254752"/>
          </a:xfrm>
        </p:spPr>
        <p:txBody>
          <a:bodyPr/>
          <a:lstStyle/>
          <a:p>
            <a:pPr marL="0" indent="0" algn="just">
              <a:buNone/>
            </a:pPr>
            <a:r>
              <a:rPr lang="en-IN" i="1" u="sng" dirty="0">
                <a:latin typeface="Times New Roman" panose="02020603050405020304" pitchFamily="18" charset="0"/>
                <a:cs typeface="Times New Roman" panose="02020603050405020304" pitchFamily="18" charset="0"/>
              </a:rPr>
              <a:t>Forward </a:t>
            </a:r>
            <a:r>
              <a:rPr lang="en-IN" i="1" u="sng" dirty="0" smtClean="0">
                <a:latin typeface="Times New Roman" panose="02020603050405020304" pitchFamily="18" charset="0"/>
                <a:cs typeface="Times New Roman" panose="02020603050405020304" pitchFamily="18" charset="0"/>
              </a:rPr>
              <a:t>Kinematics :</a:t>
            </a: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Forward kinematics is the process of using a robot’s kinematic equations to ascertain the joint parameters that must match the end-position effector’s prescribed values</a:t>
            </a:r>
            <a:r>
              <a:rPr lang="en-US" sz="16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Forward kinematics describes the location and orientation of the end effector in relation to the joint variables. </a:t>
            </a: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A </a:t>
            </a:r>
            <a:r>
              <a:rPr lang="en-US" sz="1600" dirty="0">
                <a:latin typeface="Times New Roman" panose="02020603050405020304" pitchFamily="18" charset="0"/>
                <a:cs typeface="Times New Roman" panose="02020603050405020304" pitchFamily="18" charset="0"/>
              </a:rPr>
              <a:t>proper kinematics model should be used in order to have forward kinematics for a robot mechanism in a systematic method. </a:t>
            </a: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D-H parameter, which contains four parameters, is </a:t>
            </a:r>
            <a:r>
              <a:rPr lang="en-US" sz="1600" dirty="0" smtClean="0">
                <a:latin typeface="Times New Roman" panose="02020603050405020304" pitchFamily="18" charset="0"/>
                <a:cs typeface="Times New Roman" panose="02020603050405020304" pitchFamily="18" charset="0"/>
              </a:rPr>
              <a:t>utilized. And describe </a:t>
            </a:r>
            <a:r>
              <a:rPr lang="en-US" sz="1600" dirty="0">
                <a:latin typeface="Times New Roman" panose="02020603050405020304" pitchFamily="18" charset="0"/>
                <a:cs typeface="Times New Roman" panose="02020603050405020304" pitchFamily="18" charset="0"/>
              </a:rPr>
              <a:t>the link length, twist, offset, and joint angle. </a:t>
            </a: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marL="0" indent="0" algn="just">
              <a:buNone/>
            </a:pPr>
            <a:r>
              <a:rPr lang="en-US" sz="1600" dirty="0" smtClean="0">
                <a:latin typeface="+mj-lt"/>
                <a:cs typeface="Times New Roman" panose="02020603050405020304" pitchFamily="18" charset="0"/>
              </a:rPr>
              <a:t>                                                            </a:t>
            </a:r>
            <a:r>
              <a:rPr lang="en-US" sz="1400" dirty="0" smtClean="0">
                <a:latin typeface="+mj-lt"/>
                <a:cs typeface="Times New Roman" panose="02020603050405020304" pitchFamily="18" charset="0"/>
              </a:rPr>
              <a:t>12</a:t>
            </a:r>
            <a:endParaRPr lang="en-US" sz="1400" dirty="0">
              <a:latin typeface="+mj-lt"/>
              <a:cs typeface="Times New Roman" panose="02020603050405020304" pitchFamily="18" charset="0"/>
            </a:endParaRPr>
          </a:p>
          <a:p>
            <a:pPr algn="just">
              <a:buFont typeface="Wingdings" panose="05000000000000000000" pitchFamily="2" charset="2"/>
              <a:buChar char="v"/>
            </a:pPr>
            <a:endParaRPr lang="en-IN" sz="1600" dirty="0" smtClean="0">
              <a:latin typeface="Times New Roman" panose="02020603050405020304" pitchFamily="18" charset="0"/>
              <a:cs typeface="Times New Roman" panose="02020603050405020304" pitchFamily="18" charset="0"/>
            </a:endParaRPr>
          </a:p>
          <a:p>
            <a:pPr marL="0" indent="0" algn="just">
              <a:buNone/>
            </a:pPr>
            <a:endParaRPr lang="en-IN" i="1" u="sng" dirty="0">
              <a:latin typeface="Times New Roman" panose="02020603050405020304" pitchFamily="18" charset="0"/>
              <a:cs typeface="Times New Roman" panose="02020603050405020304" pitchFamily="18" charset="0"/>
            </a:endParaRPr>
          </a:p>
          <a:p>
            <a:pPr marL="0" indent="0" algn="just">
              <a:buNone/>
            </a:pPr>
            <a:endParaRPr lang="en-IN" dirty="0"/>
          </a:p>
        </p:txBody>
      </p:sp>
    </p:spTree>
    <p:extLst>
      <p:ext uri="{BB962C8B-B14F-4D97-AF65-F5344CB8AC3E}">
        <p14:creationId xmlns:p14="http://schemas.microsoft.com/office/powerpoint/2010/main" val="41076521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7467600" cy="563562"/>
          </a:xfrm>
        </p:spPr>
        <p:txBody>
          <a:bodyPr>
            <a:normAutofit fontScale="90000"/>
          </a:bodyPr>
          <a:lstStyle/>
          <a:p>
            <a:r>
              <a:rPr lang="en-US" sz="3200" dirty="0">
                <a:latin typeface="Times New Roman" pitchFamily="18" charset="0"/>
                <a:cs typeface="Times New Roman" pitchFamily="18" charset="0"/>
              </a:rPr>
              <a:t>Theoretical Background</a:t>
            </a:r>
          </a:p>
        </p:txBody>
      </p:sp>
      <p:sp>
        <p:nvSpPr>
          <p:cNvPr id="3" name="Content Placeholder 2"/>
          <p:cNvSpPr>
            <a:spLocks noGrp="1"/>
          </p:cNvSpPr>
          <p:nvPr>
            <p:ph sz="quarter" idx="1"/>
          </p:nvPr>
        </p:nvSpPr>
        <p:spPr>
          <a:xfrm>
            <a:off x="228600" y="685800"/>
            <a:ext cx="8534400" cy="5943600"/>
          </a:xfrm>
        </p:spPr>
        <p:txBody>
          <a:bodyPr/>
          <a:lstStyle/>
          <a:p>
            <a:pPr>
              <a:buNone/>
            </a:pPr>
            <a:r>
              <a:rPr lang="en-US" b="1" dirty="0" smtClean="0">
                <a:latin typeface="Times New Roman" pitchFamily="18" charset="0"/>
                <a:cs typeface="Times New Roman" pitchFamily="18" charset="0"/>
              </a:rPr>
              <a:t>Kinematics:  </a:t>
            </a:r>
            <a:r>
              <a:rPr lang="en-US" sz="2000" i="1" dirty="0" smtClean="0">
                <a:latin typeface="Times New Roman" pitchFamily="18" charset="0"/>
                <a:cs typeface="Times New Roman" pitchFamily="18" charset="0"/>
              </a:rPr>
              <a:t>Forward </a:t>
            </a:r>
            <a:r>
              <a:rPr lang="en-US" sz="2000" i="1" dirty="0">
                <a:latin typeface="Times New Roman" pitchFamily="18" charset="0"/>
                <a:cs typeface="Times New Roman" pitchFamily="18" charset="0"/>
              </a:rPr>
              <a:t>Kinematics</a:t>
            </a:r>
            <a:r>
              <a:rPr lang="en-US" sz="2000" i="1" dirty="0" smtClean="0">
                <a:latin typeface="Times New Roman" pitchFamily="18" charset="0"/>
                <a:cs typeface="Times New Roman" pitchFamily="18" charset="0"/>
              </a:rPr>
              <a:t>:</a:t>
            </a:r>
          </a:p>
          <a:p>
            <a:pPr>
              <a:buNone/>
            </a:pPr>
            <a:r>
              <a:rPr lang="en-US" sz="1600" dirty="0" smtClean="0">
                <a:latin typeface="Times New Roman" pitchFamily="18" charset="0"/>
                <a:cs typeface="Times New Roman" pitchFamily="18" charset="0"/>
              </a:rPr>
              <a:t>We have 2 joint leg and for position of toe </a:t>
            </a:r>
          </a:p>
          <a:p>
            <a:pPr>
              <a:buNone/>
            </a:pPr>
            <a:r>
              <a:rPr lang="en-US" sz="1600" dirty="0" smtClean="0">
                <a:latin typeface="Times New Roman" pitchFamily="18" charset="0"/>
                <a:cs typeface="Times New Roman" pitchFamily="18" charset="0"/>
              </a:rPr>
              <a:t>there are D-H parameter and matrix .  </a:t>
            </a:r>
            <a:endParaRPr lang="en-US" sz="16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pic>
        <p:nvPicPr>
          <p:cNvPr id="6" name="Picture 5" descr="legdraw.png"/>
          <p:cNvPicPr>
            <a:picLocks noChangeAspect="1"/>
          </p:cNvPicPr>
          <p:nvPr/>
        </p:nvPicPr>
        <p:blipFill>
          <a:blip r:embed="rId2"/>
          <a:stretch>
            <a:fillRect/>
          </a:stretch>
        </p:blipFill>
        <p:spPr>
          <a:xfrm>
            <a:off x="5410200" y="914400"/>
            <a:ext cx="3077541" cy="3995737"/>
          </a:xfrm>
          <a:prstGeom prst="rect">
            <a:avLst/>
          </a:prstGeom>
        </p:spPr>
      </p:pic>
      <p:sp>
        <p:nvSpPr>
          <p:cNvPr id="5" name="TextBox 4"/>
          <p:cNvSpPr txBox="1"/>
          <p:nvPr/>
        </p:nvSpPr>
        <p:spPr>
          <a:xfrm>
            <a:off x="3733800" y="6248400"/>
            <a:ext cx="3184346" cy="369332"/>
          </a:xfrm>
          <a:prstGeom prst="rect">
            <a:avLst/>
          </a:prstGeom>
          <a:noFill/>
        </p:spPr>
        <p:txBody>
          <a:bodyPr wrap="square" rtlCol="0">
            <a:spAutoFit/>
          </a:bodyPr>
          <a:lstStyle/>
          <a:p>
            <a:r>
              <a:rPr lang="en-US" dirty="0" smtClean="0"/>
              <a:t>          </a:t>
            </a:r>
            <a:r>
              <a:rPr lang="en-US" sz="1400" dirty="0" smtClean="0"/>
              <a:t>13</a:t>
            </a:r>
            <a:endParaRPr lang="en-US" sz="1400" dirty="0"/>
          </a:p>
        </p:txBody>
      </p:sp>
      <p:pic>
        <p:nvPicPr>
          <p:cNvPr id="7" name="Picture 6" descr="dh.PNG"/>
          <p:cNvPicPr>
            <a:picLocks noChangeAspect="1"/>
          </p:cNvPicPr>
          <p:nvPr/>
        </p:nvPicPr>
        <p:blipFill>
          <a:blip r:embed="rId3"/>
          <a:stretch>
            <a:fillRect/>
          </a:stretch>
        </p:blipFill>
        <p:spPr>
          <a:xfrm>
            <a:off x="381000" y="1981200"/>
            <a:ext cx="4267200" cy="838852"/>
          </a:xfrm>
          <a:prstGeom prst="rect">
            <a:avLst/>
          </a:prstGeom>
        </p:spPr>
      </p:pic>
      <p:pic>
        <p:nvPicPr>
          <p:cNvPr id="8" name="Picture 7" descr="matrix.PNG"/>
          <p:cNvPicPr>
            <a:picLocks noChangeAspect="1"/>
          </p:cNvPicPr>
          <p:nvPr/>
        </p:nvPicPr>
        <p:blipFill>
          <a:blip r:embed="rId4"/>
          <a:stretch>
            <a:fillRect/>
          </a:stretch>
        </p:blipFill>
        <p:spPr>
          <a:xfrm>
            <a:off x="533400" y="3276600"/>
            <a:ext cx="3012831" cy="1981200"/>
          </a:xfrm>
          <a:prstGeom prst="rect">
            <a:avLst/>
          </a:prstGeom>
        </p:spPr>
      </p:pic>
      <p:pic>
        <p:nvPicPr>
          <p:cNvPr id="9" name="Picture 8" descr="final matrix.PNG"/>
          <p:cNvPicPr>
            <a:picLocks noChangeAspect="1"/>
          </p:cNvPicPr>
          <p:nvPr/>
        </p:nvPicPr>
        <p:blipFill>
          <a:blip r:embed="rId5"/>
          <a:stretch>
            <a:fillRect/>
          </a:stretch>
        </p:blipFill>
        <p:spPr>
          <a:xfrm>
            <a:off x="415636" y="5353028"/>
            <a:ext cx="5410200" cy="997783"/>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IN" dirty="0"/>
              <a:t>Theoretical Background</a:t>
            </a:r>
          </a:p>
        </p:txBody>
      </p:sp>
      <p:sp>
        <p:nvSpPr>
          <p:cNvPr id="3" name="Content Placeholder 2"/>
          <p:cNvSpPr>
            <a:spLocks noGrp="1"/>
          </p:cNvSpPr>
          <p:nvPr>
            <p:ph sz="quarter" idx="1"/>
          </p:nvPr>
        </p:nvSpPr>
        <p:spPr>
          <a:xfrm>
            <a:off x="457200" y="1219200"/>
            <a:ext cx="7467600" cy="5254752"/>
          </a:xfrm>
        </p:spPr>
        <p:txBody>
          <a:bodyPr/>
          <a:lstStyle/>
          <a:p>
            <a:pPr marL="0" indent="0">
              <a:buNone/>
            </a:pPr>
            <a:r>
              <a:rPr lang="en-IN" i="1" u="sng" dirty="0">
                <a:latin typeface="Times New Roman" panose="02020603050405020304" pitchFamily="18" charset="0"/>
                <a:cs typeface="Times New Roman" panose="02020603050405020304" pitchFamily="18" charset="0"/>
              </a:rPr>
              <a:t>Inverse </a:t>
            </a:r>
            <a:r>
              <a:rPr lang="en-IN" i="1" u="sng" dirty="0" smtClean="0">
                <a:latin typeface="Times New Roman" panose="02020603050405020304" pitchFamily="18" charset="0"/>
                <a:cs typeface="Times New Roman" panose="02020603050405020304" pitchFamily="18" charset="0"/>
              </a:rPr>
              <a:t>Kinematics:</a:t>
            </a: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The end of a kinematic chain, such as the skeleton of an animated character or a robot manipulator, needs to be placed in a specific position and orientation with respect to the start of the chain. Inverse kinematics is a mathematical technique that establishes the variable joint parameters required for this</a:t>
            </a:r>
            <a:r>
              <a:rPr lang="en-US" sz="16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a:t>
            </a:r>
            <a:r>
              <a:rPr lang="en-US" sz="1600" dirty="0" smtClean="0">
                <a:latin typeface="Times New Roman" panose="02020603050405020304" pitchFamily="18" charset="0"/>
                <a:cs typeface="Times New Roman" panose="02020603050405020304" pitchFamily="18" charset="0"/>
              </a:rPr>
              <a:t>nverse </a:t>
            </a:r>
            <a:r>
              <a:rPr lang="en-US" sz="1600" dirty="0">
                <a:latin typeface="Times New Roman" panose="02020603050405020304" pitchFamily="18" charset="0"/>
                <a:cs typeface="Times New Roman" panose="02020603050405020304" pitchFamily="18" charset="0"/>
              </a:rPr>
              <a:t>kinematics is used to determine the necessary location for a leg to jump or slip</a:t>
            </a:r>
            <a:r>
              <a:rPr lang="en-US" sz="16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Inverse </a:t>
            </a:r>
            <a:r>
              <a:rPr lang="en-US" sz="1600" dirty="0">
                <a:latin typeface="Times New Roman" panose="02020603050405020304" pitchFamily="18" charset="0"/>
                <a:cs typeface="Times New Roman" panose="02020603050405020304" pitchFamily="18" charset="0"/>
              </a:rPr>
              <a:t>kinematics refers to the difficulty of translating the location and orientation of a manipulator end effector from Cartesian space to joint space. </a:t>
            </a: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To </a:t>
            </a:r>
            <a:r>
              <a:rPr lang="en-US" sz="1600" dirty="0">
                <a:latin typeface="Times New Roman" panose="02020603050405020304" pitchFamily="18" charset="0"/>
                <a:cs typeface="Times New Roman" panose="02020603050405020304" pitchFamily="18" charset="0"/>
              </a:rPr>
              <a:t>determine the analytical inverse kinematics solution, two techniques are used: </a:t>
            </a:r>
            <a:r>
              <a:rPr lang="en-US" sz="1600" dirty="0" smtClean="0">
                <a:latin typeface="Times New Roman" panose="02020603050405020304" pitchFamily="18" charset="0"/>
                <a:cs typeface="Times New Roman" panose="02020603050405020304" pitchFamily="18" charset="0"/>
              </a:rPr>
              <a:t>  geometric </a:t>
            </a:r>
            <a:r>
              <a:rPr lang="en-US" sz="1600" dirty="0">
                <a:latin typeface="Times New Roman" panose="02020603050405020304" pitchFamily="18" charset="0"/>
                <a:cs typeface="Times New Roman" panose="02020603050405020304" pitchFamily="18" charset="0"/>
              </a:rPr>
              <a:t>and algebraic</a:t>
            </a:r>
            <a:r>
              <a:rPr lang="en-US" sz="16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400" dirty="0" smtClean="0">
                <a:latin typeface="+mj-lt"/>
                <a:cs typeface="Times New Roman" panose="02020603050405020304" pitchFamily="18" charset="0"/>
              </a:rPr>
              <a:t>                                                                        14</a:t>
            </a:r>
            <a:endParaRPr lang="en-IN" sz="1400" dirty="0">
              <a:latin typeface="+mj-lt"/>
              <a:cs typeface="Times New Roman" panose="02020603050405020304" pitchFamily="18" charset="0"/>
            </a:endParaRPr>
          </a:p>
        </p:txBody>
      </p:sp>
    </p:spTree>
    <p:extLst>
      <p:ext uri="{BB962C8B-B14F-4D97-AF65-F5344CB8AC3E}">
        <p14:creationId xmlns:p14="http://schemas.microsoft.com/office/powerpoint/2010/main" val="16592310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563562"/>
          </a:xfrm>
        </p:spPr>
        <p:txBody>
          <a:bodyPr>
            <a:normAutofit fontScale="90000"/>
          </a:bodyPr>
          <a:lstStyle/>
          <a:p>
            <a:r>
              <a:rPr lang="en-US" sz="3200" dirty="0">
                <a:latin typeface="Times New Roman" pitchFamily="18" charset="0"/>
                <a:cs typeface="Times New Roman" pitchFamily="18" charset="0"/>
              </a:rPr>
              <a:t>Theoretical Background</a:t>
            </a:r>
          </a:p>
        </p:txBody>
      </p:sp>
      <p:sp>
        <p:nvSpPr>
          <p:cNvPr id="3" name="Content Placeholder 2"/>
          <p:cNvSpPr>
            <a:spLocks noGrp="1"/>
          </p:cNvSpPr>
          <p:nvPr>
            <p:ph sz="quarter" idx="1"/>
          </p:nvPr>
        </p:nvSpPr>
        <p:spPr>
          <a:xfrm>
            <a:off x="228600" y="838200"/>
            <a:ext cx="8534400" cy="5791200"/>
          </a:xfrm>
        </p:spPr>
        <p:txBody>
          <a:bodyPr/>
          <a:lstStyle/>
          <a:p>
            <a:pPr>
              <a:buNone/>
            </a:pPr>
            <a:r>
              <a:rPr lang="en-US" dirty="0">
                <a:latin typeface="Times New Roman" pitchFamily="18" charset="0"/>
                <a:cs typeface="Times New Roman" pitchFamily="18" charset="0"/>
              </a:rPr>
              <a:t>Inverse Kinematics: </a:t>
            </a:r>
            <a:r>
              <a:rPr lang="en-US" sz="1600" dirty="0">
                <a:latin typeface="Times New Roman" pitchFamily="18" charset="0"/>
                <a:cs typeface="Times New Roman" pitchFamily="18" charset="0"/>
              </a:rPr>
              <a:t>Inverse kinematics is the use of kinematic equations to determine the motion of a robot to reach a desired position.</a:t>
            </a:r>
          </a:p>
          <a:p>
            <a:pPr>
              <a:buNone/>
            </a:pPr>
            <a:r>
              <a:rPr lang="en-US" dirty="0">
                <a:latin typeface="Times New Roman" pitchFamily="18" charset="0"/>
                <a:cs typeface="Times New Roman" pitchFamily="18" charset="0"/>
              </a:rPr>
              <a:t>                             </a:t>
            </a: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a:p>
            <a:pPr>
              <a:buNone/>
            </a:pPr>
            <a:r>
              <a:rPr lang="en-US" sz="1800" dirty="0">
                <a:latin typeface="Times New Roman" pitchFamily="18" charset="0"/>
                <a:cs typeface="Times New Roman" pitchFamily="18" charset="0"/>
              </a:rPr>
              <a:t>We  have relation between Forward kinematics</a:t>
            </a:r>
          </a:p>
          <a:p>
            <a:pPr>
              <a:buNone/>
            </a:pPr>
            <a:r>
              <a:rPr lang="en-US" sz="1800" dirty="0">
                <a:latin typeface="Times New Roman" pitchFamily="18" charset="0"/>
                <a:cs typeface="Times New Roman" pitchFamily="18" charset="0"/>
              </a:rPr>
              <a:t> and Inverse kinematics as follows:</a:t>
            </a: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pic>
        <p:nvPicPr>
          <p:cNvPr id="5" name="Picture 4" descr="Untitled Diagram.drawio (1).png"/>
          <p:cNvPicPr>
            <a:picLocks noChangeAspect="1"/>
          </p:cNvPicPr>
          <p:nvPr/>
        </p:nvPicPr>
        <p:blipFill>
          <a:blip r:embed="rId2"/>
          <a:stretch>
            <a:fillRect/>
          </a:stretch>
        </p:blipFill>
        <p:spPr>
          <a:xfrm>
            <a:off x="152400" y="4191001"/>
            <a:ext cx="8501038" cy="2286000"/>
          </a:xfrm>
          <a:prstGeom prst="rect">
            <a:avLst/>
          </a:prstGeom>
        </p:spPr>
      </p:pic>
      <p:pic>
        <p:nvPicPr>
          <p:cNvPr id="7" name="Picture 6" descr="legdraw.png"/>
          <p:cNvPicPr>
            <a:picLocks noChangeAspect="1"/>
          </p:cNvPicPr>
          <p:nvPr/>
        </p:nvPicPr>
        <p:blipFill>
          <a:blip r:embed="rId3"/>
          <a:stretch>
            <a:fillRect/>
          </a:stretch>
        </p:blipFill>
        <p:spPr>
          <a:xfrm>
            <a:off x="5867400" y="1295400"/>
            <a:ext cx="2971800" cy="3352800"/>
          </a:xfrm>
          <a:prstGeom prst="rect">
            <a:avLst/>
          </a:prstGeom>
        </p:spPr>
      </p:pic>
      <p:sp>
        <p:nvSpPr>
          <p:cNvPr id="4" name="TextBox 3"/>
          <p:cNvSpPr txBox="1"/>
          <p:nvPr/>
        </p:nvSpPr>
        <p:spPr>
          <a:xfrm>
            <a:off x="1219200" y="6399312"/>
            <a:ext cx="3505200" cy="307777"/>
          </a:xfrm>
          <a:prstGeom prst="rect">
            <a:avLst/>
          </a:prstGeom>
          <a:noFill/>
        </p:spPr>
        <p:txBody>
          <a:bodyPr wrap="square" rtlCol="0">
            <a:spAutoFit/>
          </a:bodyPr>
          <a:lstStyle/>
          <a:p>
            <a:r>
              <a:rPr lang="en-US" sz="1400" dirty="0" smtClean="0"/>
              <a:t>                                                             15</a:t>
            </a:r>
            <a:endParaRPr lang="en-US" sz="1400" dirty="0"/>
          </a:p>
        </p:txBody>
      </p:sp>
      <p:pic>
        <p:nvPicPr>
          <p:cNvPr id="8" name="Picture 7" descr="theta.PNG"/>
          <p:cNvPicPr>
            <a:picLocks noChangeAspect="1"/>
          </p:cNvPicPr>
          <p:nvPr/>
        </p:nvPicPr>
        <p:blipFill>
          <a:blip r:embed="rId4"/>
          <a:stretch>
            <a:fillRect/>
          </a:stretch>
        </p:blipFill>
        <p:spPr>
          <a:xfrm>
            <a:off x="762000" y="1752600"/>
            <a:ext cx="4159299" cy="1286023"/>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lstStyle/>
          <a:p>
            <a:r>
              <a:rPr lang="en-IN" dirty="0"/>
              <a:t>Theoretical Background</a:t>
            </a:r>
          </a:p>
        </p:txBody>
      </p:sp>
      <p:sp>
        <p:nvSpPr>
          <p:cNvPr id="3" name="Content Placeholder 2"/>
          <p:cNvSpPr>
            <a:spLocks noGrp="1"/>
          </p:cNvSpPr>
          <p:nvPr>
            <p:ph sz="quarter" idx="1"/>
          </p:nvPr>
        </p:nvSpPr>
        <p:spPr>
          <a:xfrm>
            <a:off x="457200" y="1219200"/>
            <a:ext cx="7467600" cy="5254752"/>
          </a:xfrm>
        </p:spPr>
        <p:txBody>
          <a:bodyPr>
            <a:normAutofit/>
          </a:bodyPr>
          <a:lstStyle/>
          <a:p>
            <a:pPr marL="0" indent="0">
              <a:buNone/>
            </a:pPr>
            <a:r>
              <a:rPr lang="en-IN" sz="2800" i="1" u="sng" dirty="0">
                <a:latin typeface="Times New Roman" panose="02020603050405020304" pitchFamily="18" charset="0"/>
                <a:cs typeface="Times New Roman" panose="02020603050405020304" pitchFamily="18" charset="0"/>
              </a:rPr>
              <a:t>Deep reinforcement </a:t>
            </a:r>
            <a:r>
              <a:rPr lang="en-IN" sz="2800" i="1" u="sng" dirty="0" smtClean="0">
                <a:latin typeface="Times New Roman" panose="02020603050405020304" pitchFamily="18" charset="0"/>
                <a:cs typeface="Times New Roman" panose="02020603050405020304" pitchFamily="18" charset="0"/>
              </a:rPr>
              <a:t>learning:</a:t>
            </a: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 branch of machine learning called deep reinforcement learning (deep RL) combines deep learning and reinforcement learning (</a:t>
            </a:r>
            <a:r>
              <a:rPr lang="en-US" sz="1600" dirty="0" smtClean="0">
                <a:latin typeface="Times New Roman" panose="02020603050405020304" pitchFamily="18" charset="0"/>
                <a:cs typeface="Times New Roman" panose="02020603050405020304" pitchFamily="18" charset="0"/>
              </a:rPr>
              <a:t>RL).</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Deep RL algorithms can decide what actions to take to achieve an objective by </a:t>
            </a:r>
            <a:r>
              <a:rPr lang="en-US" sz="1600" dirty="0" smtClean="0">
                <a:latin typeface="Times New Roman" panose="02020603050405020304" pitchFamily="18" charset="0"/>
                <a:cs typeface="Times New Roman" panose="02020603050405020304" pitchFamily="18" charset="0"/>
              </a:rPr>
              <a:t>analyzing </a:t>
            </a:r>
            <a:r>
              <a:rPr lang="en-US" sz="1600" dirty="0">
                <a:latin typeface="Times New Roman" panose="02020603050405020304" pitchFamily="18" charset="0"/>
                <a:cs typeface="Times New Roman" panose="02020603050405020304" pitchFamily="18" charset="0"/>
              </a:rPr>
              <a:t>very massive inputs, such as every pixel presented to the screen in a video game </a:t>
            </a:r>
            <a:r>
              <a:rPr lang="en-US" sz="1600" dirty="0" smtClean="0">
                <a:latin typeface="Times New Roman" panose="02020603050405020304" pitchFamily="18" charset="0"/>
                <a:cs typeface="Times New Roman" panose="02020603050405020304" pitchFamily="18" charset="0"/>
              </a:rPr>
              <a:t>(maximizing </a:t>
            </a:r>
            <a:r>
              <a:rPr lang="en-US" sz="1600" dirty="0">
                <a:latin typeface="Times New Roman" panose="02020603050405020304" pitchFamily="18" charset="0"/>
                <a:cs typeface="Times New Roman" panose="02020603050405020304" pitchFamily="18" charset="0"/>
              </a:rPr>
              <a:t>the game score). </a:t>
            </a: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Robotics</a:t>
            </a:r>
            <a:r>
              <a:rPr lang="en-US" sz="1600" dirty="0">
                <a:latin typeface="Times New Roman" panose="02020603050405020304" pitchFamily="18" charset="0"/>
                <a:cs typeface="Times New Roman" panose="02020603050405020304" pitchFamily="18" charset="0"/>
              </a:rPr>
              <a:t>, video games, natural language processing, computer vision education, transportation, finance, and healthcare are just a few of the diverse fields in which deep reinforcement learning has been applied</a:t>
            </a:r>
            <a:r>
              <a:rPr lang="en-US" sz="16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600" dirty="0" smtClean="0">
              <a:latin typeface="Times New Roman" panose="02020603050405020304" pitchFamily="18" charset="0"/>
              <a:cs typeface="Times New Roman" panose="02020603050405020304" pitchFamily="18" charset="0"/>
            </a:endParaRPr>
          </a:p>
          <a:p>
            <a:pPr marL="0" indent="0" algn="just">
              <a:buNone/>
            </a:pPr>
            <a:r>
              <a:rPr lang="en-US" sz="1600" dirty="0" smtClean="0">
                <a:latin typeface="Times New Roman" panose="02020603050405020304" pitchFamily="18" charset="0"/>
                <a:cs typeface="Times New Roman" panose="02020603050405020304" pitchFamily="18" charset="0"/>
              </a:rPr>
              <a:t>                                                                     </a:t>
            </a:r>
            <a:r>
              <a:rPr lang="en-US" sz="1400" dirty="0" smtClean="0">
                <a:latin typeface="+mj-lt"/>
                <a:cs typeface="Times New Roman" panose="02020603050405020304" pitchFamily="18" charset="0"/>
              </a:rPr>
              <a:t>16</a:t>
            </a:r>
            <a:endParaRPr lang="en-US" sz="1400" dirty="0">
              <a:latin typeface="+mj-lt"/>
              <a:cs typeface="Times New Roman" panose="02020603050405020304" pitchFamily="18" charset="0"/>
            </a:endParaRPr>
          </a:p>
        </p:txBody>
      </p:sp>
    </p:spTree>
    <p:extLst>
      <p:ext uri="{BB962C8B-B14F-4D97-AF65-F5344CB8AC3E}">
        <p14:creationId xmlns:p14="http://schemas.microsoft.com/office/powerpoint/2010/main" val="1474031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a:bodyPr>
          <a:lstStyle/>
          <a:p>
            <a:r>
              <a:rPr lang="en-US" sz="3200" dirty="0">
                <a:latin typeface="Times New Roman" pitchFamily="18" charset="0"/>
                <a:cs typeface="Times New Roman" pitchFamily="18" charset="0"/>
              </a:rPr>
              <a:t>Methods</a:t>
            </a:r>
          </a:p>
        </p:txBody>
      </p:sp>
      <p:sp>
        <p:nvSpPr>
          <p:cNvPr id="3" name="Content Placeholder 2"/>
          <p:cNvSpPr>
            <a:spLocks noGrp="1"/>
          </p:cNvSpPr>
          <p:nvPr>
            <p:ph sz="quarter" idx="1"/>
          </p:nvPr>
        </p:nvSpPr>
        <p:spPr>
          <a:xfrm>
            <a:off x="457200" y="1069848"/>
            <a:ext cx="8229600" cy="5407152"/>
          </a:xfrm>
        </p:spPr>
        <p:txBody>
          <a:bodyPr>
            <a:normAutofit fontScale="92500" lnSpcReduction="20000"/>
          </a:bodyPr>
          <a:lstStyle/>
          <a:p>
            <a:pPr>
              <a:buNone/>
            </a:pPr>
            <a:r>
              <a:rPr lang="en-US" dirty="0">
                <a:latin typeface="Times New Roman" pitchFamily="18" charset="0"/>
                <a:cs typeface="Times New Roman" pitchFamily="18" charset="0"/>
              </a:rPr>
              <a:t>Control and Learning of the Robots: </a:t>
            </a:r>
          </a:p>
          <a:p>
            <a:pPr>
              <a:buNone/>
            </a:pPr>
            <a:r>
              <a:rPr lang="en-US" sz="2000" b="1" dirty="0">
                <a:latin typeface="Times New Roman" pitchFamily="18" charset="0"/>
                <a:cs typeface="Times New Roman" pitchFamily="18" charset="0"/>
              </a:rPr>
              <a:t>Dynamics: </a:t>
            </a:r>
          </a:p>
          <a:p>
            <a:pPr>
              <a:buNone/>
            </a:pPr>
            <a:r>
              <a:rPr lang="en-US" sz="1400" dirty="0">
                <a:latin typeface="Times New Roman" pitchFamily="18" charset="0"/>
                <a:cs typeface="Times New Roman" pitchFamily="18" charset="0"/>
              </a:rPr>
              <a:t>We had used two degree of freedom planer robotic leg for analysis </a:t>
            </a:r>
          </a:p>
          <a:p>
            <a:pPr>
              <a:buNone/>
            </a:pPr>
            <a:r>
              <a:rPr lang="en-US" sz="1400" dirty="0">
                <a:latin typeface="Times New Roman" pitchFamily="18" charset="0"/>
                <a:cs typeface="Times New Roman" pitchFamily="18" charset="0"/>
              </a:rPr>
              <a:t>purpose shown in figure-</a:t>
            </a:r>
          </a:p>
          <a:p>
            <a:pPr>
              <a:buNone/>
            </a:pPr>
            <a:r>
              <a:rPr lang="en-US" sz="1400" b="1" u="sng" dirty="0">
                <a:latin typeface="Times New Roman" pitchFamily="18" charset="0"/>
                <a:cs typeface="Times New Roman" pitchFamily="18" charset="0"/>
              </a:rPr>
              <a:t>The equation of dynamics of the Two-link Robotic leg</a:t>
            </a:r>
            <a:r>
              <a:rPr lang="en-US" sz="2000" b="1" u="sng" dirty="0" smtClean="0">
                <a:latin typeface="Times New Roman" pitchFamily="18" charset="0"/>
                <a:cs typeface="Times New Roman" pitchFamily="18" charset="0"/>
              </a:rPr>
              <a:t>:</a:t>
            </a:r>
          </a:p>
          <a:p>
            <a:pPr>
              <a:buNone/>
            </a:pPr>
            <a:endParaRPr lang="en-US" sz="2000" b="1" dirty="0">
              <a:latin typeface="Times New Roman" pitchFamily="18" charset="0"/>
              <a:cs typeface="Times New Roman" pitchFamily="18" charset="0"/>
            </a:endParaRPr>
          </a:p>
          <a:p>
            <a:pPr>
              <a:buNone/>
            </a:pPr>
            <a:endParaRPr lang="en-US" sz="2000" b="1" dirty="0">
              <a:latin typeface="Times New Roman" pitchFamily="18" charset="0"/>
              <a:cs typeface="Times New Roman" pitchFamily="18" charset="0"/>
            </a:endParaRPr>
          </a:p>
          <a:p>
            <a:pPr>
              <a:buNone/>
            </a:pPr>
            <a:endParaRPr lang="en-US" sz="2000" b="1" dirty="0">
              <a:latin typeface="Times New Roman" pitchFamily="18" charset="0"/>
              <a:cs typeface="Times New Roman" pitchFamily="18" charset="0"/>
            </a:endParaRPr>
          </a:p>
          <a:p>
            <a:pPr>
              <a:buNone/>
            </a:pPr>
            <a:endParaRPr lang="en-US" sz="2000" b="1" dirty="0">
              <a:latin typeface="Times New Roman" pitchFamily="18" charset="0"/>
              <a:cs typeface="Times New Roman" pitchFamily="18" charset="0"/>
            </a:endParaRPr>
          </a:p>
          <a:p>
            <a:pPr>
              <a:buNone/>
            </a:pPr>
            <a:endParaRPr lang="en-US" sz="2000" b="1" dirty="0">
              <a:latin typeface="Times New Roman" pitchFamily="18" charset="0"/>
              <a:cs typeface="Times New Roman" pitchFamily="18" charset="0"/>
            </a:endParaRPr>
          </a:p>
          <a:p>
            <a:pPr>
              <a:buNone/>
            </a:pPr>
            <a:r>
              <a:rPr lang="en-US" sz="1200" dirty="0">
                <a:latin typeface="Times New Roman" pitchFamily="18" charset="0"/>
                <a:cs typeface="Times New Roman" pitchFamily="18" charset="0"/>
              </a:rPr>
              <a:t>Where ,</a:t>
            </a:r>
          </a:p>
          <a:p>
            <a:pPr>
              <a:buNone/>
            </a:pPr>
            <a:endParaRPr lang="en-US" sz="1200" dirty="0">
              <a:latin typeface="Times New Roman" pitchFamily="18" charset="0"/>
              <a:cs typeface="Times New Roman" pitchFamily="18" charset="0"/>
            </a:endParaRPr>
          </a:p>
          <a:p>
            <a:pPr>
              <a:buNone/>
            </a:pPr>
            <a:r>
              <a:rPr lang="en-US" sz="1500" dirty="0" smtClean="0">
                <a:latin typeface="Times New Roman"/>
                <a:cs typeface="Times New Roman"/>
              </a:rPr>
              <a:t>ɽ</a:t>
            </a:r>
            <a:r>
              <a:rPr lang="en-US" sz="2200" dirty="0" smtClean="0">
                <a:latin typeface="Times New Roman" pitchFamily="18" charset="0"/>
                <a:cs typeface="Times New Roman" pitchFamily="18" charset="0"/>
              </a:rPr>
              <a:t> </a:t>
            </a:r>
            <a:r>
              <a:rPr lang="en-US" sz="1200" dirty="0" smtClean="0">
                <a:latin typeface="Times New Roman" pitchFamily="18" charset="0"/>
                <a:cs typeface="Times New Roman" pitchFamily="18" charset="0"/>
              </a:rPr>
              <a:t>=  </a:t>
            </a:r>
            <a:r>
              <a:rPr lang="en-US" sz="1200" dirty="0">
                <a:latin typeface="Times New Roman" pitchFamily="18" charset="0"/>
                <a:cs typeface="Times New Roman" pitchFamily="18" charset="0"/>
              </a:rPr>
              <a:t>Appropriate Torque,</a:t>
            </a:r>
          </a:p>
          <a:p>
            <a:pPr>
              <a:buNone/>
            </a:pPr>
            <a:r>
              <a:rPr lang="en-US" sz="1200" dirty="0">
                <a:latin typeface="Times New Roman" pitchFamily="18" charset="0"/>
                <a:cs typeface="Times New Roman" pitchFamily="18" charset="0"/>
              </a:rPr>
              <a:t>\Theta = angle of  joints      </a:t>
            </a:r>
          </a:p>
          <a:p>
            <a:pPr>
              <a:buNone/>
            </a:pPr>
            <a:r>
              <a:rPr lang="en-US" sz="1200" dirty="0">
                <a:latin typeface="Times New Roman" pitchFamily="18" charset="0"/>
                <a:cs typeface="Times New Roman" pitchFamily="18" charset="0"/>
              </a:rPr>
              <a:t>\Theta_dot = angular velocity   </a:t>
            </a:r>
          </a:p>
          <a:p>
            <a:pPr>
              <a:buNone/>
            </a:pPr>
            <a:r>
              <a:rPr lang="en-US" sz="1200" dirty="0">
                <a:latin typeface="Times New Roman" pitchFamily="18" charset="0"/>
                <a:cs typeface="Times New Roman" pitchFamily="18" charset="0"/>
              </a:rPr>
              <a:t>I = inertia</a:t>
            </a:r>
          </a:p>
          <a:p>
            <a:pPr>
              <a:buNone/>
            </a:pPr>
            <a:r>
              <a:rPr lang="en-US" sz="1200" dirty="0">
                <a:latin typeface="Times New Roman" pitchFamily="18" charset="0"/>
                <a:cs typeface="Times New Roman" pitchFamily="18" charset="0"/>
              </a:rPr>
              <a:t>M = mass </a:t>
            </a:r>
          </a:p>
          <a:p>
            <a:pPr>
              <a:buNone/>
            </a:pPr>
            <a:r>
              <a:rPr lang="en-US" sz="1200" dirty="0">
                <a:latin typeface="Times New Roman" pitchFamily="18" charset="0"/>
                <a:cs typeface="Times New Roman" pitchFamily="18" charset="0"/>
              </a:rPr>
              <a:t>l = length of leg </a:t>
            </a:r>
          </a:p>
          <a:p>
            <a:pPr>
              <a:buNone/>
            </a:pPr>
            <a:r>
              <a:rPr lang="en-US" sz="1600" dirty="0">
                <a:latin typeface="Times New Roman" pitchFamily="18" charset="0"/>
                <a:cs typeface="Times New Roman" pitchFamily="18" charset="0"/>
              </a:rPr>
              <a:t>ӫ =  </a:t>
            </a:r>
            <a:r>
              <a:rPr lang="en-US" sz="1500" dirty="0">
                <a:latin typeface="Times New Roman" pitchFamily="18" charset="0"/>
                <a:cs typeface="Times New Roman" pitchFamily="18" charset="0"/>
              </a:rPr>
              <a:t>angular acceleration</a:t>
            </a:r>
          </a:p>
        </p:txBody>
      </p:sp>
      <p:pic>
        <p:nvPicPr>
          <p:cNvPr id="4" name="Picture 3" descr="legdraw.png"/>
          <p:cNvPicPr>
            <a:picLocks noChangeAspect="1"/>
          </p:cNvPicPr>
          <p:nvPr/>
        </p:nvPicPr>
        <p:blipFill>
          <a:blip r:embed="rId2"/>
          <a:stretch>
            <a:fillRect/>
          </a:stretch>
        </p:blipFill>
        <p:spPr>
          <a:xfrm>
            <a:off x="5638800" y="914400"/>
            <a:ext cx="2942459" cy="4267200"/>
          </a:xfrm>
          <a:prstGeom prst="rect">
            <a:avLst/>
          </a:prstGeom>
        </p:spPr>
      </p:pic>
      <p:sp>
        <p:nvSpPr>
          <p:cNvPr id="6" name="TextBox 5"/>
          <p:cNvSpPr txBox="1"/>
          <p:nvPr/>
        </p:nvSpPr>
        <p:spPr>
          <a:xfrm rot="3788170">
            <a:off x="8238293" y="2383113"/>
            <a:ext cx="369012" cy="246221"/>
          </a:xfrm>
          <a:prstGeom prst="rect">
            <a:avLst/>
          </a:prstGeom>
          <a:noFill/>
        </p:spPr>
        <p:txBody>
          <a:bodyPr wrap="none" rtlCol="0">
            <a:spAutoFit/>
          </a:bodyPr>
          <a:lstStyle/>
          <a:p>
            <a:r>
              <a:rPr lang="en-US" sz="1000" dirty="0"/>
              <a:t>m1</a:t>
            </a:r>
          </a:p>
        </p:txBody>
      </p:sp>
      <p:sp>
        <p:nvSpPr>
          <p:cNvPr id="7" name="TextBox 6"/>
          <p:cNvSpPr txBox="1"/>
          <p:nvPr/>
        </p:nvSpPr>
        <p:spPr>
          <a:xfrm rot="18303139">
            <a:off x="6801490" y="3227744"/>
            <a:ext cx="381000" cy="246221"/>
          </a:xfrm>
          <a:prstGeom prst="rect">
            <a:avLst/>
          </a:prstGeom>
          <a:noFill/>
        </p:spPr>
        <p:txBody>
          <a:bodyPr wrap="square" rtlCol="0">
            <a:spAutoFit/>
          </a:bodyPr>
          <a:lstStyle/>
          <a:p>
            <a:r>
              <a:rPr lang="en-US" sz="1000" dirty="0"/>
              <a:t>m2</a:t>
            </a:r>
          </a:p>
        </p:txBody>
      </p:sp>
      <p:sp>
        <p:nvSpPr>
          <p:cNvPr id="9" name="TextBox 8"/>
          <p:cNvSpPr txBox="1"/>
          <p:nvPr/>
        </p:nvSpPr>
        <p:spPr>
          <a:xfrm rot="3542585">
            <a:off x="7775752" y="1965368"/>
            <a:ext cx="475361" cy="276999"/>
          </a:xfrm>
          <a:prstGeom prst="rect">
            <a:avLst/>
          </a:prstGeom>
          <a:noFill/>
        </p:spPr>
        <p:txBody>
          <a:bodyPr wrap="square" rtlCol="0">
            <a:spAutoFit/>
          </a:bodyPr>
          <a:lstStyle/>
          <a:p>
            <a:r>
              <a:rPr lang="en-US" sz="1200" dirty="0"/>
              <a:t>I1</a:t>
            </a:r>
          </a:p>
        </p:txBody>
      </p:sp>
      <p:sp>
        <p:nvSpPr>
          <p:cNvPr id="10" name="TextBox 9"/>
          <p:cNvSpPr txBox="1"/>
          <p:nvPr/>
        </p:nvSpPr>
        <p:spPr>
          <a:xfrm rot="17924884">
            <a:off x="6440224" y="3548145"/>
            <a:ext cx="609600" cy="276999"/>
          </a:xfrm>
          <a:prstGeom prst="rect">
            <a:avLst/>
          </a:prstGeom>
          <a:noFill/>
        </p:spPr>
        <p:txBody>
          <a:bodyPr wrap="square" rtlCol="0">
            <a:spAutoFit/>
          </a:bodyPr>
          <a:lstStyle/>
          <a:p>
            <a:r>
              <a:rPr lang="en-US" sz="1200" dirty="0"/>
              <a:t>I2</a:t>
            </a:r>
          </a:p>
        </p:txBody>
      </p:sp>
      <p:sp>
        <p:nvSpPr>
          <p:cNvPr id="8" name="TextBox 7"/>
          <p:cNvSpPr txBox="1"/>
          <p:nvPr/>
        </p:nvSpPr>
        <p:spPr>
          <a:xfrm>
            <a:off x="4343400" y="6292334"/>
            <a:ext cx="383438" cy="307777"/>
          </a:xfrm>
          <a:prstGeom prst="rect">
            <a:avLst/>
          </a:prstGeom>
          <a:noFill/>
        </p:spPr>
        <p:txBody>
          <a:bodyPr wrap="none" rtlCol="0">
            <a:spAutoFit/>
          </a:bodyPr>
          <a:lstStyle/>
          <a:p>
            <a:r>
              <a:rPr lang="en-US" sz="1400" dirty="0" smtClean="0">
                <a:latin typeface="+mj-lt"/>
              </a:rPr>
              <a:t>17</a:t>
            </a:r>
            <a:endParaRPr lang="en-US" sz="1400" dirty="0">
              <a:latin typeface="+mj-lt"/>
            </a:endParaRPr>
          </a:p>
        </p:txBody>
      </p:sp>
      <p:pic>
        <p:nvPicPr>
          <p:cNvPr id="12" name="Picture 11" descr="tou1.PNG"/>
          <p:cNvPicPr>
            <a:picLocks noChangeAspect="1"/>
          </p:cNvPicPr>
          <p:nvPr/>
        </p:nvPicPr>
        <p:blipFill>
          <a:blip r:embed="rId3"/>
          <a:stretch>
            <a:fillRect/>
          </a:stretch>
        </p:blipFill>
        <p:spPr>
          <a:xfrm>
            <a:off x="533400" y="2667000"/>
            <a:ext cx="5562600" cy="700633"/>
          </a:xfrm>
          <a:prstGeom prst="rect">
            <a:avLst/>
          </a:prstGeom>
        </p:spPr>
      </p:pic>
      <p:pic>
        <p:nvPicPr>
          <p:cNvPr id="13" name="Picture 12" descr="tou2.PNG"/>
          <p:cNvPicPr>
            <a:picLocks noChangeAspect="1"/>
          </p:cNvPicPr>
          <p:nvPr/>
        </p:nvPicPr>
        <p:blipFill>
          <a:blip r:embed="rId4"/>
          <a:stretch>
            <a:fillRect/>
          </a:stretch>
        </p:blipFill>
        <p:spPr>
          <a:xfrm>
            <a:off x="685800" y="3505200"/>
            <a:ext cx="5562600" cy="64732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563562"/>
          </a:xfrm>
        </p:spPr>
        <p:txBody>
          <a:bodyPr>
            <a:normAutofit fontScale="90000"/>
          </a:bodyPr>
          <a:lstStyle/>
          <a:p>
            <a:r>
              <a:rPr lang="en-US" sz="3200" dirty="0">
                <a:latin typeface="Times New Roman" pitchFamily="18" charset="0"/>
                <a:cs typeface="Times New Roman" pitchFamily="18" charset="0"/>
              </a:rPr>
              <a:t>M</a:t>
            </a:r>
            <a:r>
              <a:rPr lang="en-US" sz="3200" dirty="0" smtClean="0">
                <a:latin typeface="Times New Roman" pitchFamily="18" charset="0"/>
                <a:cs typeface="Times New Roman" pitchFamily="18" charset="0"/>
              </a:rPr>
              <a:t>ethods</a:t>
            </a:r>
            <a:endParaRPr lang="en-US" sz="3200"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228600" y="838200"/>
            <a:ext cx="8534400" cy="5791200"/>
          </a:xfrm>
        </p:spPr>
        <p:txBody>
          <a:bodyPr/>
          <a:lstStyle/>
          <a:p>
            <a:pPr>
              <a:buNone/>
            </a:pPr>
            <a:endParaRPr lang="en-US" dirty="0">
              <a:latin typeface="Times New Roman" pitchFamily="18" charset="0"/>
              <a:cs typeface="Times New Roman" pitchFamily="18" charset="0"/>
            </a:endParaRPr>
          </a:p>
          <a:p>
            <a:pPr>
              <a:buNone/>
            </a:pPr>
            <a:r>
              <a:rPr lang="en-US" dirty="0">
                <a:latin typeface="Times New Roman" pitchFamily="18" charset="0"/>
                <a:cs typeface="Times New Roman" pitchFamily="18" charset="0"/>
              </a:rPr>
              <a:t>Model </a:t>
            </a:r>
            <a:r>
              <a:rPr lang="en-US" dirty="0" smtClean="0">
                <a:latin typeface="Times New Roman" pitchFamily="18" charset="0"/>
                <a:cs typeface="Times New Roman" pitchFamily="18" charset="0"/>
              </a:rPr>
              <a:t>based </a:t>
            </a:r>
            <a:r>
              <a:rPr lang="en-US" dirty="0">
                <a:latin typeface="Times New Roman" pitchFamily="18" charset="0"/>
                <a:cs typeface="Times New Roman" pitchFamily="18" charset="0"/>
              </a:rPr>
              <a:t>Approach</a:t>
            </a:r>
            <a:r>
              <a:rPr lang="en-US" dirty="0" smtClean="0">
                <a:latin typeface="Times New Roman" pitchFamily="18" charset="0"/>
                <a:cs typeface="Times New Roman" pitchFamily="18" charset="0"/>
              </a:rPr>
              <a:t>:</a:t>
            </a:r>
          </a:p>
          <a:p>
            <a:pPr>
              <a:buNone/>
            </a:pPr>
            <a:endParaRPr lang="en-US" dirty="0" smtClean="0">
              <a:latin typeface="Times New Roman" pitchFamily="18" charset="0"/>
              <a:cs typeface="Times New Roman" pitchFamily="18" charset="0"/>
            </a:endParaRPr>
          </a:p>
          <a:p>
            <a:pPr algn="just">
              <a:buNone/>
            </a:pPr>
            <a:r>
              <a:rPr lang="en-US" sz="1800" dirty="0" smtClean="0">
                <a:latin typeface="Times New Roman" pitchFamily="18" charset="0"/>
                <a:cs typeface="Times New Roman" pitchFamily="18" charset="0"/>
              </a:rPr>
              <a:t>Model-based Reinforcement Learning refers to learning optimal behavior indirectly by</a:t>
            </a:r>
          </a:p>
          <a:p>
            <a:pPr algn="just">
              <a:buNone/>
            </a:pPr>
            <a:r>
              <a:rPr lang="en-US" sz="1800" dirty="0" smtClean="0">
                <a:latin typeface="Times New Roman" pitchFamily="18" charset="0"/>
                <a:cs typeface="Times New Roman" pitchFamily="18" charset="0"/>
              </a:rPr>
              <a:t>learning a model of the environment by taking actions and observing the outcomes that</a:t>
            </a:r>
          </a:p>
          <a:p>
            <a:pPr algn="just">
              <a:buNone/>
            </a:pPr>
            <a:r>
              <a:rPr lang="en-US" sz="1800" dirty="0" smtClean="0">
                <a:latin typeface="Times New Roman" pitchFamily="18" charset="0"/>
                <a:cs typeface="Times New Roman" pitchFamily="18" charset="0"/>
              </a:rPr>
              <a:t>include the next state and the immediate reward.</a:t>
            </a:r>
          </a:p>
          <a:p>
            <a:pPr algn="just">
              <a:buNone/>
            </a:pPr>
            <a:endParaRPr lang="en-US" sz="1800" dirty="0" smtClean="0">
              <a:latin typeface="Times New Roman" pitchFamily="18" charset="0"/>
              <a:cs typeface="Times New Roman" pitchFamily="18" charset="0"/>
            </a:endParaRPr>
          </a:p>
          <a:p>
            <a:pPr algn="just">
              <a:buNone/>
            </a:pPr>
            <a:endParaRPr lang="en-US" sz="1800" dirty="0" smtClean="0">
              <a:latin typeface="Times New Roman" pitchFamily="18" charset="0"/>
              <a:cs typeface="Times New Roman" pitchFamily="18" charset="0"/>
            </a:endParaRPr>
          </a:p>
          <a:p>
            <a:pPr algn="just">
              <a:buNone/>
            </a:pPr>
            <a:endParaRPr lang="en-US" sz="1800" dirty="0">
              <a:latin typeface="Times New Roman" pitchFamily="18" charset="0"/>
              <a:cs typeface="Times New Roman" pitchFamily="18" charset="0"/>
            </a:endParaRPr>
          </a:p>
        </p:txBody>
      </p:sp>
      <p:sp>
        <p:nvSpPr>
          <p:cNvPr id="5" name="TextBox 4"/>
          <p:cNvSpPr txBox="1"/>
          <p:nvPr/>
        </p:nvSpPr>
        <p:spPr>
          <a:xfrm>
            <a:off x="4038600" y="6324600"/>
            <a:ext cx="4098746" cy="369332"/>
          </a:xfrm>
          <a:prstGeom prst="rect">
            <a:avLst/>
          </a:prstGeom>
          <a:noFill/>
        </p:spPr>
        <p:txBody>
          <a:bodyPr wrap="square" rtlCol="0">
            <a:spAutoFit/>
          </a:bodyPr>
          <a:lstStyle/>
          <a:p>
            <a:r>
              <a:rPr lang="en-US" dirty="0" smtClean="0"/>
              <a:t>  </a:t>
            </a:r>
            <a:r>
              <a:rPr lang="en-US" sz="1400" dirty="0" smtClean="0">
                <a:latin typeface="+mj-lt"/>
              </a:rPr>
              <a:t>18</a:t>
            </a:r>
            <a:endParaRPr lang="en-US" sz="1400" dirty="0">
              <a:latin typeface="+mj-lt"/>
            </a:endParaRPr>
          </a:p>
        </p:txBody>
      </p:sp>
      <p:pic>
        <p:nvPicPr>
          <p:cNvPr id="6" name="Picture 5" descr="mba.png"/>
          <p:cNvPicPr>
            <a:picLocks noChangeAspect="1"/>
          </p:cNvPicPr>
          <p:nvPr/>
        </p:nvPicPr>
        <p:blipFill>
          <a:blip r:embed="rId2"/>
          <a:stretch>
            <a:fillRect/>
          </a:stretch>
        </p:blipFill>
        <p:spPr>
          <a:xfrm>
            <a:off x="1981200" y="3581400"/>
            <a:ext cx="4648200" cy="1537481"/>
          </a:xfrm>
          <a:prstGeom prst="rect">
            <a:avLst/>
          </a:prstGeom>
        </p:spPr>
      </p:pic>
      <p:sp>
        <p:nvSpPr>
          <p:cNvPr id="7" name="TextBox 6"/>
          <p:cNvSpPr txBox="1"/>
          <p:nvPr/>
        </p:nvSpPr>
        <p:spPr>
          <a:xfrm>
            <a:off x="2743200" y="5562600"/>
            <a:ext cx="2750689" cy="307777"/>
          </a:xfrm>
          <a:prstGeom prst="rect">
            <a:avLst/>
          </a:prstGeom>
          <a:noFill/>
        </p:spPr>
        <p:txBody>
          <a:bodyPr wrap="none" rtlCol="0">
            <a:spAutoFit/>
          </a:bodyPr>
          <a:lstStyle/>
          <a:p>
            <a:r>
              <a:rPr lang="en-US" sz="1400" b="1" dirty="0" smtClean="0">
                <a:latin typeface="Times New Roman" pitchFamily="18" charset="0"/>
                <a:cs typeface="Times New Roman" pitchFamily="18" charset="0"/>
              </a:rPr>
              <a:t>Figure11- Model based approach </a:t>
            </a:r>
            <a:endParaRPr lang="en-US" sz="1400" b="1" dirty="0">
              <a:latin typeface="Times New Roman" pitchFamily="18" charset="0"/>
              <a:cs typeface="Times New Roman" pitchFamily="18" charset="0"/>
            </a:endParaRPr>
          </a:p>
        </p:txBody>
      </p:sp>
      <p:sp>
        <p:nvSpPr>
          <p:cNvPr id="8" name="TextBox 7"/>
          <p:cNvSpPr txBox="1"/>
          <p:nvPr/>
        </p:nvSpPr>
        <p:spPr>
          <a:xfrm>
            <a:off x="5943600" y="3276600"/>
            <a:ext cx="2286000" cy="461665"/>
          </a:xfrm>
          <a:prstGeom prst="rect">
            <a:avLst/>
          </a:prstGeom>
          <a:noFill/>
        </p:spPr>
        <p:txBody>
          <a:bodyPr wrap="square" rtlCol="0">
            <a:spAutoFit/>
          </a:bodyPr>
          <a:lstStyle/>
          <a:p>
            <a:r>
              <a:rPr lang="en-US" sz="800" dirty="0" smtClean="0"/>
              <a:t>https://medium.com/analytics-vidhya/model-based-offline-</a:t>
            </a:r>
          </a:p>
          <a:p>
            <a:r>
              <a:rPr lang="en-US" sz="800" dirty="0" smtClean="0"/>
              <a:t>reinforcement-learning-morel-f5cd991d9fd5</a:t>
            </a:r>
            <a:endParaRPr lang="en-US" sz="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477962"/>
          </a:xfrm>
        </p:spPr>
        <p:txBody>
          <a:bodyPr>
            <a:noAutofit/>
          </a:bodyPr>
          <a:lstStyle/>
          <a:p>
            <a:r>
              <a:rPr lang="en-US" sz="3100" dirty="0">
                <a:latin typeface="Times New Roman"/>
                <a:cs typeface="Times New Roman"/>
              </a:rPr>
              <a:t>CLOSED LOOP  PROCESS Of REINFORCEMENT LEARNING:</a:t>
            </a:r>
            <a:br>
              <a:rPr lang="en-US" sz="3100" dirty="0">
                <a:latin typeface="Times New Roman"/>
                <a:cs typeface="Times New Roman"/>
              </a:rPr>
            </a:br>
            <a:endParaRPr lang="en-US" sz="3100"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447800"/>
            <a:ext cx="8077200" cy="5026152"/>
          </a:xfrm>
        </p:spPr>
        <p:txBody>
          <a:bodyPr/>
          <a:lstStyle/>
          <a:p>
            <a:pPr>
              <a:buNone/>
            </a:pPr>
            <a:endParaRPr lang="en-US" dirty="0">
              <a:latin typeface="Times New Roman"/>
              <a:cs typeface="Times New Roman"/>
            </a:endParaRPr>
          </a:p>
          <a:p>
            <a:pPr marL="57150">
              <a:lnSpc>
                <a:spcPct val="90000"/>
              </a:lnSpc>
              <a:spcAft>
                <a:spcPts val="600"/>
              </a:spcAft>
              <a:buNone/>
            </a:pPr>
            <a:r>
              <a:rPr lang="en-US" sz="1400" dirty="0">
                <a:latin typeface="Times New Roman"/>
                <a:cs typeface="Times New Roman"/>
              </a:rPr>
              <a:t>Process of training robotic leg is performed</a:t>
            </a:r>
          </a:p>
          <a:p>
            <a:pPr marL="57150">
              <a:lnSpc>
                <a:spcPct val="90000"/>
              </a:lnSpc>
              <a:spcAft>
                <a:spcPts val="600"/>
              </a:spcAft>
              <a:buNone/>
            </a:pPr>
            <a:r>
              <a:rPr lang="en-US" sz="1400" dirty="0">
                <a:latin typeface="Times New Roman"/>
                <a:cs typeface="Times New Roman"/>
              </a:rPr>
              <a:t> on Mujoco Simulator with a closed loop</a:t>
            </a:r>
          </a:p>
          <a:p>
            <a:pPr marL="57150">
              <a:lnSpc>
                <a:spcPct val="90000"/>
              </a:lnSpc>
              <a:spcAft>
                <a:spcPts val="600"/>
              </a:spcAft>
              <a:buNone/>
            </a:pPr>
            <a:r>
              <a:rPr lang="en-US" sz="1400" dirty="0">
                <a:latin typeface="Times New Roman"/>
                <a:cs typeface="Times New Roman"/>
              </a:rPr>
              <a:t>Architecture.</a:t>
            </a:r>
          </a:p>
        </p:txBody>
      </p:sp>
      <p:sp>
        <p:nvSpPr>
          <p:cNvPr id="5" name="TextBox 4"/>
          <p:cNvSpPr txBox="1"/>
          <p:nvPr/>
        </p:nvSpPr>
        <p:spPr>
          <a:xfrm>
            <a:off x="2590800" y="5943600"/>
            <a:ext cx="6527179" cy="584775"/>
          </a:xfrm>
          <a:prstGeom prst="rect">
            <a:avLst/>
          </a:prstGeom>
          <a:noFill/>
        </p:spPr>
        <p:txBody>
          <a:bodyPr wrap="square" rtlCol="0">
            <a:spAutoFit/>
          </a:bodyPr>
          <a:lstStyle/>
          <a:p>
            <a:r>
              <a:rPr lang="en-US" sz="1600" dirty="0" smtClean="0">
                <a:latin typeface="Times New Roman"/>
                <a:cs typeface="Times New Roman"/>
              </a:rPr>
              <a:t>              </a:t>
            </a:r>
            <a:r>
              <a:rPr lang="en-US" sz="1600" b="1" dirty="0" smtClean="0">
                <a:latin typeface="Times New Roman"/>
                <a:cs typeface="Times New Roman"/>
              </a:rPr>
              <a:t>Figure12 </a:t>
            </a:r>
            <a:r>
              <a:rPr lang="en-US" sz="1600" b="1" dirty="0">
                <a:latin typeface="Times New Roman"/>
                <a:cs typeface="Times New Roman"/>
              </a:rPr>
              <a:t>: Control framework using Reinforcement </a:t>
            </a:r>
            <a:r>
              <a:rPr lang="en-US" sz="1600" b="1" dirty="0" smtClean="0">
                <a:latin typeface="Times New Roman"/>
                <a:cs typeface="Times New Roman"/>
              </a:rPr>
              <a:t>leaning</a:t>
            </a:r>
            <a:endParaRPr lang="en-US" sz="1600" dirty="0">
              <a:latin typeface="Times New Roman"/>
              <a:cs typeface="Times New Roman"/>
            </a:endParaRPr>
          </a:p>
          <a:p>
            <a:endParaRPr lang="en-US" sz="1600" dirty="0"/>
          </a:p>
        </p:txBody>
      </p:sp>
      <p:pic>
        <p:nvPicPr>
          <p:cNvPr id="8" name="Picture 7" descr="archleg.PNG"/>
          <p:cNvPicPr>
            <a:picLocks noChangeAspect="1"/>
          </p:cNvPicPr>
          <p:nvPr/>
        </p:nvPicPr>
        <p:blipFill>
          <a:blip r:embed="rId2"/>
          <a:stretch>
            <a:fillRect/>
          </a:stretch>
        </p:blipFill>
        <p:spPr>
          <a:xfrm>
            <a:off x="3657600" y="1676400"/>
            <a:ext cx="5183518" cy="3972501"/>
          </a:xfrm>
          <a:prstGeom prst="rect">
            <a:avLst/>
          </a:prstGeom>
        </p:spPr>
      </p:pic>
      <p:sp>
        <p:nvSpPr>
          <p:cNvPr id="4" name="TextBox 3"/>
          <p:cNvSpPr txBox="1"/>
          <p:nvPr/>
        </p:nvSpPr>
        <p:spPr>
          <a:xfrm>
            <a:off x="3124200" y="6235987"/>
            <a:ext cx="2133600" cy="369332"/>
          </a:xfrm>
          <a:prstGeom prst="rect">
            <a:avLst/>
          </a:prstGeom>
          <a:noFill/>
        </p:spPr>
        <p:txBody>
          <a:bodyPr wrap="square" rtlCol="0">
            <a:spAutoFit/>
          </a:bodyPr>
          <a:lstStyle/>
          <a:p>
            <a:r>
              <a:rPr lang="en-US" dirty="0" smtClean="0"/>
              <a:t>                   </a:t>
            </a:r>
            <a:r>
              <a:rPr lang="en-US" sz="1400" dirty="0" smtClean="0">
                <a:latin typeface="+mj-lt"/>
              </a:rPr>
              <a:t>19</a:t>
            </a:r>
            <a:endParaRPr lang="en-US" sz="1400" dirty="0">
              <a:latin typeface="+mj-l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a:bodyPr>
          <a:lstStyle/>
          <a:p>
            <a:r>
              <a:rPr lang="en-US" sz="3200" dirty="0">
                <a:latin typeface="Times New Roman" pitchFamily="18" charset="0"/>
                <a:cs typeface="Times New Roman" pitchFamily="18" charset="0"/>
              </a:rPr>
              <a:t>Methods</a:t>
            </a:r>
          </a:p>
        </p:txBody>
      </p:sp>
      <p:sp>
        <p:nvSpPr>
          <p:cNvPr id="3" name="Content Placeholder 2"/>
          <p:cNvSpPr>
            <a:spLocks noGrp="1"/>
          </p:cNvSpPr>
          <p:nvPr>
            <p:ph sz="quarter" idx="1"/>
          </p:nvPr>
        </p:nvSpPr>
        <p:spPr>
          <a:xfrm>
            <a:off x="457200" y="990600"/>
            <a:ext cx="8229600" cy="5483352"/>
          </a:xfrm>
        </p:spPr>
        <p:txBody>
          <a:bodyPr>
            <a:normAutofit/>
          </a:bodyPr>
          <a:lstStyle/>
          <a:p>
            <a:pPr>
              <a:buNone/>
            </a:pPr>
            <a:r>
              <a:rPr lang="en-US" dirty="0">
                <a:latin typeface="Times New Roman" pitchFamily="18" charset="0"/>
                <a:cs typeface="Times New Roman" pitchFamily="18" charset="0"/>
              </a:rPr>
              <a:t>Reinforcement Learning Algorithm:</a:t>
            </a:r>
          </a:p>
          <a:p>
            <a:pPr>
              <a:buNone/>
            </a:pPr>
            <a:r>
              <a:rPr lang="en-US" sz="2000" b="1" dirty="0">
                <a:latin typeface="Times New Roman" pitchFamily="18" charset="0"/>
                <a:cs typeface="Times New Roman" pitchFamily="18" charset="0"/>
              </a:rPr>
              <a:t>PPO Algorithm:</a:t>
            </a:r>
          </a:p>
          <a:p>
            <a:pPr algn="just">
              <a:buNone/>
            </a:pPr>
            <a:r>
              <a:rPr lang="en-US" sz="1600" dirty="0">
                <a:latin typeface="Times New Roman" pitchFamily="18" charset="0"/>
                <a:cs typeface="Times New Roman" pitchFamily="18" charset="0"/>
              </a:rPr>
              <a:t>Proximal policy gradient is a policy gradient method for reinforcement learning. It works like a neural network a lot of actions as input and best action will be result for an action. The most common implementation of PPO is via the Actor-critic model which uses 2 deep neural network , one is Actor and another is Critic.</a:t>
            </a:r>
          </a:p>
          <a:p>
            <a:pPr algn="just">
              <a:buNone/>
            </a:pPr>
            <a:r>
              <a:rPr lang="en-US" sz="1600" dirty="0">
                <a:latin typeface="Times New Roman" pitchFamily="18" charset="0"/>
                <a:cs typeface="Times New Roman" pitchFamily="18" charset="0"/>
              </a:rPr>
              <a:t>Here are the equation for PPO :</a:t>
            </a:r>
          </a:p>
          <a:p>
            <a:pPr>
              <a:buNone/>
            </a:pPr>
            <a:endParaRPr lang="en-US" sz="2000" b="1" dirty="0">
              <a:latin typeface="Times New Roman" pitchFamily="18" charset="0"/>
              <a:cs typeface="Times New Roman" pitchFamily="18" charset="0"/>
            </a:endParaRPr>
          </a:p>
          <a:p>
            <a:pPr>
              <a:buNone/>
            </a:pPr>
            <a:endParaRPr lang="en-US" sz="1400" dirty="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r>
              <a:rPr lang="en-US" sz="1400" dirty="0" err="1" smtClean="0">
                <a:latin typeface="Times New Roman" pitchFamily="18" charset="0"/>
                <a:cs typeface="Times New Roman" pitchFamily="18" charset="0"/>
              </a:rPr>
              <a:t>E_t</a:t>
            </a:r>
            <a:r>
              <a:rPr lang="en-US" sz="1400" dirty="0" smtClean="0">
                <a:latin typeface="Times New Roman" pitchFamily="18" charset="0"/>
                <a:cs typeface="Times New Roman" pitchFamily="18" charset="0"/>
              </a:rPr>
              <a:t> </a:t>
            </a:r>
            <a:r>
              <a:rPr lang="en-US" sz="1400" dirty="0">
                <a:latin typeface="Times New Roman" pitchFamily="18" charset="0"/>
                <a:cs typeface="Times New Roman" pitchFamily="18" charset="0"/>
              </a:rPr>
              <a:t>= empirical expectation over time-steps.</a:t>
            </a:r>
          </a:p>
          <a:p>
            <a:pPr>
              <a:buNone/>
            </a:pPr>
            <a:r>
              <a:rPr lang="en-US" sz="1400" dirty="0">
                <a:latin typeface="Times New Roman" pitchFamily="18" charset="0"/>
                <a:cs typeface="Times New Roman" pitchFamily="18" charset="0"/>
              </a:rPr>
              <a:t>r_t = ratio of the probabilities under the new and old policy.()Importance sampling  ratio).</a:t>
            </a:r>
          </a:p>
          <a:p>
            <a:pPr>
              <a:buNone/>
            </a:pPr>
            <a:r>
              <a:rPr lang="en-US" sz="1400" dirty="0">
                <a:latin typeface="Times New Roman" pitchFamily="18" charset="0"/>
                <a:cs typeface="Times New Roman" pitchFamily="18" charset="0"/>
              </a:rPr>
              <a:t>A_t = estimate advantage at time t.\</a:t>
            </a:r>
          </a:p>
          <a:p>
            <a:pPr>
              <a:buNone/>
            </a:pPr>
            <a:r>
              <a:rPr lang="en-US" sz="1400" dirty="0">
                <a:latin typeface="Times New Roman" pitchFamily="18" charset="0"/>
                <a:cs typeface="Times New Roman" pitchFamily="18" charset="0"/>
              </a:rPr>
              <a:t>epsilon = hyper-parameter , usually 0.1 or 0.2 .</a:t>
            </a:r>
          </a:p>
          <a:p>
            <a:pPr>
              <a:buNone/>
            </a:pPr>
            <a:endParaRPr lang="en-US" sz="2000" b="1" dirty="0">
              <a:latin typeface="Times New Roman" pitchFamily="18" charset="0"/>
              <a:cs typeface="Times New Roman" pitchFamily="18" charset="0"/>
            </a:endParaRPr>
          </a:p>
        </p:txBody>
      </p:sp>
      <p:sp>
        <p:nvSpPr>
          <p:cNvPr id="5" name="TextBox 4"/>
          <p:cNvSpPr txBox="1"/>
          <p:nvPr/>
        </p:nvSpPr>
        <p:spPr>
          <a:xfrm>
            <a:off x="3657600" y="6324600"/>
            <a:ext cx="1143000" cy="369332"/>
          </a:xfrm>
          <a:prstGeom prst="rect">
            <a:avLst/>
          </a:prstGeom>
          <a:noFill/>
        </p:spPr>
        <p:txBody>
          <a:bodyPr wrap="square" rtlCol="0">
            <a:spAutoFit/>
          </a:bodyPr>
          <a:lstStyle/>
          <a:p>
            <a:r>
              <a:rPr lang="en-US" dirty="0"/>
              <a:t> </a:t>
            </a:r>
            <a:r>
              <a:rPr lang="en-US" dirty="0" smtClean="0"/>
              <a:t>         </a:t>
            </a:r>
            <a:r>
              <a:rPr lang="en-US" sz="1400" dirty="0" smtClean="0">
                <a:latin typeface="+mj-lt"/>
              </a:rPr>
              <a:t>20</a:t>
            </a:r>
            <a:endParaRPr lang="en-US" sz="1400" dirty="0">
              <a:latin typeface="+mj-lt"/>
            </a:endParaRPr>
          </a:p>
        </p:txBody>
      </p:sp>
      <p:pic>
        <p:nvPicPr>
          <p:cNvPr id="6" name="Picture 5" descr="ppo algo.png"/>
          <p:cNvPicPr>
            <a:picLocks noChangeAspect="1"/>
          </p:cNvPicPr>
          <p:nvPr/>
        </p:nvPicPr>
        <p:blipFill>
          <a:blip r:embed="rId2"/>
          <a:stretch>
            <a:fillRect/>
          </a:stretch>
        </p:blipFill>
        <p:spPr>
          <a:xfrm>
            <a:off x="533400" y="3657600"/>
            <a:ext cx="7772400" cy="342671"/>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fontScale="90000"/>
          </a:bodyPr>
          <a:lstStyle/>
          <a:p>
            <a:r>
              <a:rPr lang="en-US" sz="3200" dirty="0" smtClean="0">
                <a:latin typeface="Times New Roman" pitchFamily="18" charset="0"/>
                <a:cs typeface="Times New Roman" pitchFamily="18" charset="0"/>
              </a:rPr>
              <a:t>Reinforcement Algorithm Used for Project</a:t>
            </a:r>
            <a:endParaRPr lang="en-US" sz="3200"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990600"/>
            <a:ext cx="8229600" cy="5483352"/>
          </a:xfrm>
        </p:spPr>
        <p:txBody>
          <a:bodyPr>
            <a:normAutofit lnSpcReduction="10000"/>
          </a:bodyPr>
          <a:lstStyle/>
          <a:p>
            <a:pPr>
              <a:buNone/>
            </a:pPr>
            <a:r>
              <a:rPr lang="en-US" b="1" dirty="0">
                <a:latin typeface="Times New Roman" pitchFamily="18" charset="0"/>
                <a:cs typeface="Times New Roman" pitchFamily="18" charset="0"/>
              </a:rPr>
              <a:t>A2C</a:t>
            </a:r>
          </a:p>
          <a:p>
            <a:pPr>
              <a:buNone/>
            </a:pPr>
            <a:r>
              <a:rPr lang="en-US" sz="1600" dirty="0">
                <a:latin typeface="Times New Roman" pitchFamily="18" charset="0"/>
                <a:cs typeface="Times New Roman" pitchFamily="18" charset="0"/>
              </a:rPr>
              <a:t>Advantage Actor-critic Algorithm , it is a policy based algorithm. The actor critic algorithm consist of two network (the actor and critic) working together to solve a particular problem.</a:t>
            </a:r>
          </a:p>
          <a:p>
            <a:pPr>
              <a:buNone/>
            </a:pP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a:p>
            <a:pPr>
              <a:buNone/>
            </a:pPr>
            <a:r>
              <a:rPr lang="en-US" sz="1600" dirty="0">
                <a:latin typeface="Times New Roman" pitchFamily="18" charset="0"/>
                <a:cs typeface="Times New Roman" pitchFamily="18" charset="0"/>
              </a:rPr>
              <a:t>Here are the equation for A2C algorithm that shows how this algorithm works:</a:t>
            </a:r>
          </a:p>
          <a:p>
            <a:pPr>
              <a:buNone/>
            </a:pPr>
            <a:endParaRPr lang="en-US" sz="1600" dirty="0">
              <a:latin typeface="Times New Roman" pitchFamily="18" charset="0"/>
              <a:cs typeface="Times New Roman" pitchFamily="18" charset="0"/>
            </a:endParaRPr>
          </a:p>
          <a:p>
            <a:pPr>
              <a:buNone/>
            </a:pPr>
            <a:r>
              <a:rPr lang="en-US" sz="1600" dirty="0" smtClean="0">
                <a:latin typeface="Times New Roman"/>
                <a:cs typeface="Times New Roman"/>
              </a:rPr>
              <a:t>                      </a:t>
            </a:r>
            <a:endParaRPr lang="en-US" sz="1600" dirty="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Where </a:t>
            </a:r>
            <a:r>
              <a:rPr lang="en-US" sz="1600" dirty="0">
                <a:latin typeface="Times New Roman" pitchFamily="18" charset="0"/>
                <a:cs typeface="Times New Roman" pitchFamily="18" charset="0"/>
              </a:rPr>
              <a:t>,</a:t>
            </a:r>
          </a:p>
          <a:p>
            <a:pPr>
              <a:buNone/>
            </a:pPr>
            <a:r>
              <a:rPr lang="en-US" sz="1600" dirty="0">
                <a:latin typeface="Times New Roman" pitchFamily="18" charset="0"/>
                <a:cs typeface="Times New Roman" pitchFamily="18" charset="0"/>
              </a:rPr>
              <a:t>a_t = action taken as per time</a:t>
            </a:r>
          </a:p>
          <a:p>
            <a:pPr>
              <a:buNone/>
            </a:pPr>
            <a:r>
              <a:rPr lang="en-US" sz="1600" dirty="0">
                <a:latin typeface="Times New Roman" pitchFamily="18" charset="0"/>
                <a:cs typeface="Times New Roman" pitchFamily="18" charset="0"/>
              </a:rPr>
              <a:t>S_t = State of an action\\</a:t>
            </a:r>
          </a:p>
        </p:txBody>
      </p:sp>
      <p:pic>
        <p:nvPicPr>
          <p:cNvPr id="4" name="Picture 3" descr="A2C.PNG"/>
          <p:cNvPicPr>
            <a:picLocks noChangeAspect="1"/>
          </p:cNvPicPr>
          <p:nvPr/>
        </p:nvPicPr>
        <p:blipFill>
          <a:blip r:embed="rId2"/>
          <a:stretch>
            <a:fillRect/>
          </a:stretch>
        </p:blipFill>
        <p:spPr>
          <a:xfrm>
            <a:off x="1295400" y="2438400"/>
            <a:ext cx="5638800" cy="1709757"/>
          </a:xfrm>
          <a:prstGeom prst="rect">
            <a:avLst/>
          </a:prstGeom>
        </p:spPr>
      </p:pic>
      <p:sp>
        <p:nvSpPr>
          <p:cNvPr id="6" name="TextBox 5"/>
          <p:cNvSpPr txBox="1"/>
          <p:nvPr/>
        </p:nvSpPr>
        <p:spPr>
          <a:xfrm>
            <a:off x="4495800" y="6324600"/>
            <a:ext cx="974546" cy="307777"/>
          </a:xfrm>
          <a:prstGeom prst="rect">
            <a:avLst/>
          </a:prstGeom>
          <a:noFill/>
        </p:spPr>
        <p:txBody>
          <a:bodyPr wrap="square" rtlCol="0">
            <a:spAutoFit/>
          </a:bodyPr>
          <a:lstStyle/>
          <a:p>
            <a:r>
              <a:rPr lang="en-US" sz="1400" dirty="0" smtClean="0">
                <a:latin typeface="+mj-lt"/>
              </a:rPr>
              <a:t>21</a:t>
            </a:r>
            <a:endParaRPr lang="en-US" sz="1400" dirty="0">
              <a:latin typeface="+mj-lt"/>
            </a:endParaRPr>
          </a:p>
        </p:txBody>
      </p:sp>
      <p:pic>
        <p:nvPicPr>
          <p:cNvPr id="7" name="Picture 6" descr="ppostates.png"/>
          <p:cNvPicPr>
            <a:picLocks noChangeAspect="1"/>
          </p:cNvPicPr>
          <p:nvPr/>
        </p:nvPicPr>
        <p:blipFill>
          <a:blip r:embed="rId3"/>
          <a:stretch>
            <a:fillRect/>
          </a:stretch>
        </p:blipFill>
        <p:spPr>
          <a:xfrm>
            <a:off x="1524000" y="4876800"/>
            <a:ext cx="4971429" cy="4000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a:bodyPr>
          <a:lstStyle/>
          <a:p>
            <a:r>
              <a:rPr lang="en-US" sz="3200" dirty="0" smtClean="0">
                <a:latin typeface="Times New Roman" pitchFamily="18" charset="0"/>
                <a:cs typeface="Times New Roman" pitchFamily="18" charset="0"/>
              </a:rPr>
              <a:t>Reward Function</a:t>
            </a:r>
            <a:endParaRPr lang="en-US" sz="3200"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447800"/>
            <a:ext cx="8077200" cy="5026152"/>
          </a:xfrm>
        </p:spPr>
        <p:txBody>
          <a:bodyPr/>
          <a:lstStyle/>
          <a:p>
            <a:pPr>
              <a:buNone/>
            </a:pPr>
            <a:r>
              <a:rPr lang="en-US" sz="1800" dirty="0" smtClean="0">
                <a:latin typeface="Times New Roman" pitchFamily="18" charset="0"/>
                <a:cs typeface="Times New Roman" pitchFamily="18" charset="0"/>
              </a:rPr>
              <a:t>Max reward = base height + foot position + power consumption.</a:t>
            </a:r>
          </a:p>
          <a:p>
            <a:pPr>
              <a:buNone/>
            </a:pPr>
            <a:endParaRPr lang="en-US"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Power consumption = torque * velocity</a:t>
            </a:r>
          </a:p>
          <a:p>
            <a:pPr>
              <a:buNone/>
            </a:pPr>
            <a:endParaRPr lang="en-US"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if  (horizontal)Foot position &lt; 0.05 ,      reward will be +100</a:t>
            </a:r>
          </a:p>
          <a:p>
            <a:pPr>
              <a:buNone/>
            </a:pPr>
            <a:endParaRPr lang="en-US"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else foot position &lt; 0.01,     reward will be +20</a:t>
            </a:r>
          </a:p>
          <a:p>
            <a:pPr>
              <a:buNone/>
            </a:pPr>
            <a:r>
              <a:rPr lang="en-US" sz="1800" dirty="0" smtClean="0">
                <a:latin typeface="Times New Roman" pitchFamily="18" charset="0"/>
                <a:cs typeface="Times New Roman" pitchFamily="18" charset="0"/>
              </a:rPr>
              <a:t> if  (pos – 0.1) &gt; 0.03 ,       reward will be    -10 (penalty)</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p>
          <a:p>
            <a:pPr>
              <a:buNone/>
            </a:pPr>
            <a:endParaRPr lang="en-US" dirty="0">
              <a:latin typeface="Times New Roman" pitchFamily="18" charset="0"/>
              <a:cs typeface="Times New Roman" pitchFamily="18" charset="0"/>
            </a:endParaRPr>
          </a:p>
        </p:txBody>
      </p:sp>
      <p:sp>
        <p:nvSpPr>
          <p:cNvPr id="4" name="TextBox 3"/>
          <p:cNvSpPr txBox="1"/>
          <p:nvPr/>
        </p:nvSpPr>
        <p:spPr>
          <a:xfrm>
            <a:off x="4191000" y="6096000"/>
            <a:ext cx="383438" cy="307777"/>
          </a:xfrm>
          <a:prstGeom prst="rect">
            <a:avLst/>
          </a:prstGeom>
          <a:noFill/>
        </p:spPr>
        <p:txBody>
          <a:bodyPr wrap="none" rtlCol="0">
            <a:spAutoFit/>
          </a:bodyPr>
          <a:lstStyle/>
          <a:p>
            <a:r>
              <a:rPr lang="en-US" sz="1400" dirty="0" smtClean="0">
                <a:latin typeface="+mj-lt"/>
              </a:rPr>
              <a:t>22</a:t>
            </a:r>
            <a:endParaRPr lang="en-US" sz="1400" dirty="0">
              <a:latin typeface="+mj-lt"/>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a:bodyPr>
          <a:lstStyle/>
          <a:p>
            <a:r>
              <a:rPr lang="en-US" sz="3200"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sz="quarter" idx="1"/>
          </p:nvPr>
        </p:nvSpPr>
        <p:spPr>
          <a:xfrm>
            <a:off x="457200" y="1066800"/>
            <a:ext cx="8229600" cy="5407152"/>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After conducting experiments in order to accomplish the goal and </a:t>
            </a:r>
            <a:r>
              <a:rPr lang="en-US" sz="1800" dirty="0" smtClean="0">
                <a:latin typeface="Times New Roman" panose="02020603050405020304" pitchFamily="18" charset="0"/>
                <a:cs typeface="Times New Roman" panose="02020603050405020304" pitchFamily="18" charset="0"/>
              </a:rPr>
              <a:t>analyzed </a:t>
            </a:r>
            <a:r>
              <a:rPr lang="en-US" sz="1800" dirty="0">
                <a:latin typeface="Times New Roman" panose="02020603050405020304" pitchFamily="18" charset="0"/>
                <a:cs typeface="Times New Roman" panose="02020603050405020304" pitchFamily="18" charset="0"/>
              </a:rPr>
              <a:t>the findings to reach the following conclusions:</a:t>
            </a:r>
          </a:p>
          <a:p>
            <a:pPr marL="342900" indent="-342900">
              <a:buNone/>
            </a:pPr>
            <a:endParaRPr lang="en-US"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By employing reinforcement learning, a </a:t>
            </a:r>
            <a:r>
              <a:rPr lang="en-US" sz="1800" dirty="0" smtClean="0">
                <a:latin typeface="Times New Roman" panose="02020603050405020304" pitchFamily="18" charset="0"/>
                <a:cs typeface="Times New Roman" panose="02020603050405020304" pitchFamily="18" charset="0"/>
              </a:rPr>
              <a:t>model-based </a:t>
            </a:r>
            <a:r>
              <a:rPr lang="en-US" sz="1800" dirty="0">
                <a:latin typeface="Times New Roman" panose="02020603050405020304" pitchFamily="18" charset="0"/>
                <a:cs typeface="Times New Roman" panose="02020603050405020304" pitchFamily="18" charset="0"/>
              </a:rPr>
              <a:t>strategy, and no control system, model </a:t>
            </a:r>
            <a:r>
              <a:rPr lang="en-US" sz="1800" dirty="0" smtClean="0">
                <a:latin typeface="Times New Roman" panose="02020603050405020304" pitchFamily="18" charset="0"/>
                <a:cs typeface="Times New Roman" panose="02020603050405020304" pitchFamily="18" charset="0"/>
              </a:rPr>
              <a:t>will be train </a:t>
            </a:r>
            <a:r>
              <a:rPr lang="en-US" sz="1800" dirty="0">
                <a:latin typeface="Times New Roman" panose="02020603050405020304" pitchFamily="18" charset="0"/>
                <a:cs typeface="Times New Roman" panose="02020603050405020304" pitchFamily="18" charset="0"/>
              </a:rPr>
              <a:t>to jump beyond a specified height</a:t>
            </a:r>
            <a:r>
              <a:rPr lang="en-US" sz="1800"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800" dirty="0" smtClean="0">
                <a:latin typeface="Times New Roman" panose="02020603050405020304" pitchFamily="18" charset="0"/>
                <a:cs typeface="Times New Roman" panose="02020603050405020304" pitchFamily="18" charset="0"/>
              </a:rPr>
              <a:t>Reinforcement learning lead us to explore feasible implementation of highly dynamic movements without any  equation of motion.</a:t>
            </a:r>
          </a:p>
          <a:p>
            <a:pPr marL="342900" indent="-342900">
              <a:buFont typeface="+mj-lt"/>
              <a:buAutoNum type="arabicPeriod"/>
            </a:pPr>
            <a:r>
              <a:rPr lang="en-US" sz="1800" dirty="0" smtClean="0">
                <a:latin typeface="Times New Roman" panose="02020603050405020304" pitchFamily="18" charset="0"/>
                <a:cs typeface="Times New Roman" panose="02020603050405020304" pitchFamily="18" charset="0"/>
              </a:rPr>
              <a:t>Using reinforcement learning we can achieve higher height </a:t>
            </a:r>
            <a:r>
              <a:rPr lang="en-US" sz="1800" dirty="0">
                <a:latin typeface="Times New Roman" panose="02020603050405020304" pitchFamily="18" charset="0"/>
                <a:cs typeface="Times New Roman" panose="02020603050405020304" pitchFamily="18" charset="0"/>
              </a:rPr>
              <a:t>.</a:t>
            </a:r>
            <a:r>
              <a:rPr lang="en-US" sz="1800" dirty="0" smtClean="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191000" y="6019800"/>
            <a:ext cx="609600" cy="369332"/>
          </a:xfrm>
          <a:prstGeom prst="rect">
            <a:avLst/>
          </a:prstGeom>
          <a:noFill/>
        </p:spPr>
        <p:txBody>
          <a:bodyPr wrap="square" rtlCol="0">
            <a:spAutoFit/>
          </a:bodyPr>
          <a:lstStyle/>
          <a:p>
            <a:r>
              <a:rPr lang="en-US" dirty="0" smtClean="0"/>
              <a:t> </a:t>
            </a:r>
            <a:r>
              <a:rPr lang="en-US" sz="1400" dirty="0" smtClean="0">
                <a:latin typeface="+mj-lt"/>
              </a:rPr>
              <a:t>23</a:t>
            </a:r>
            <a:endParaRPr lang="en-US" sz="1400" dirty="0">
              <a:latin typeface="+mj-lt"/>
            </a:endParaRPr>
          </a:p>
        </p:txBody>
      </p:sp>
    </p:spTree>
    <p:extLst>
      <p:ext uri="{BB962C8B-B14F-4D97-AF65-F5344CB8AC3E}">
        <p14:creationId xmlns:p14="http://schemas.microsoft.com/office/powerpoint/2010/main" val="19981647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a:bodyPr>
          <a:lstStyle/>
          <a:p>
            <a:r>
              <a:rPr lang="en-US" sz="3200" dirty="0">
                <a:latin typeface="Times New Roman" panose="02020603050405020304" pitchFamily="18" charset="0"/>
                <a:cs typeface="Times New Roman" panose="02020603050405020304" pitchFamily="18" charset="0"/>
              </a:rPr>
              <a:t>Future Scope</a:t>
            </a:r>
          </a:p>
        </p:txBody>
      </p:sp>
      <p:sp>
        <p:nvSpPr>
          <p:cNvPr id="3" name="Content Placeholder 2"/>
          <p:cNvSpPr>
            <a:spLocks noGrp="1"/>
          </p:cNvSpPr>
          <p:nvPr>
            <p:ph sz="quarter" idx="1"/>
          </p:nvPr>
        </p:nvSpPr>
        <p:spPr>
          <a:xfrm>
            <a:off x="457200" y="1066800"/>
            <a:ext cx="8229600" cy="5407152"/>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In the future, there will be wide research on robotic legs using reinforcement learning and there is scope to learn these models using algorithms. After this project, these are the main scopes to do some progressive work:</a:t>
            </a:r>
          </a:p>
          <a:p>
            <a:pPr marL="0" indent="0">
              <a:buNone/>
            </a:pPr>
            <a:endParaRPr lang="en-US" sz="1800" dirty="0">
              <a:latin typeface="Times New Roman" panose="02020603050405020304" pitchFamily="18" charset="0"/>
              <a:cs typeface="Times New Roman" panose="02020603050405020304" pitchFamily="18" charset="0"/>
            </a:endParaRPr>
          </a:p>
          <a:p>
            <a:pPr marL="342900" indent="-342900">
              <a:buAutoNum type="arabicPeriod"/>
            </a:pPr>
            <a:r>
              <a:rPr lang="en-US" sz="1800" dirty="0">
                <a:latin typeface="Times New Roman" panose="02020603050405020304" pitchFamily="18" charset="0"/>
                <a:cs typeface="Times New Roman" panose="02020603050405020304" pitchFamily="18" charset="0"/>
              </a:rPr>
              <a:t>PPO algorithm are used in this project to train a robotic limb using several reinforcement learning techniques.</a:t>
            </a:r>
          </a:p>
          <a:p>
            <a:pPr marL="342900" indent="-342900">
              <a:buAutoNum type="arabicPeriod"/>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Reinforcement learning techniques are capable of training quadruped models.</a:t>
            </a:r>
          </a:p>
        </p:txBody>
      </p:sp>
      <p:sp>
        <p:nvSpPr>
          <p:cNvPr id="4" name="TextBox 3"/>
          <p:cNvSpPr txBox="1"/>
          <p:nvPr/>
        </p:nvSpPr>
        <p:spPr>
          <a:xfrm>
            <a:off x="4191000" y="6096000"/>
            <a:ext cx="609600" cy="369332"/>
          </a:xfrm>
          <a:prstGeom prst="rect">
            <a:avLst/>
          </a:prstGeom>
          <a:noFill/>
        </p:spPr>
        <p:txBody>
          <a:bodyPr wrap="square" rtlCol="0">
            <a:spAutoFit/>
          </a:bodyPr>
          <a:lstStyle/>
          <a:p>
            <a:r>
              <a:rPr lang="en-US" dirty="0" smtClean="0"/>
              <a:t>  </a:t>
            </a:r>
            <a:r>
              <a:rPr lang="en-US" sz="1400" dirty="0" smtClean="0">
                <a:latin typeface="+mj-lt"/>
              </a:rPr>
              <a:t>24</a:t>
            </a:r>
            <a:endParaRPr lang="en-US" sz="1400" dirty="0">
              <a:latin typeface="+mj-lt"/>
            </a:endParaRPr>
          </a:p>
        </p:txBody>
      </p:sp>
    </p:spTree>
    <p:extLst>
      <p:ext uri="{BB962C8B-B14F-4D97-AF65-F5344CB8AC3E}">
        <p14:creationId xmlns:p14="http://schemas.microsoft.com/office/powerpoint/2010/main" val="11115760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a:bodyPr>
          <a:lstStyle/>
          <a:p>
            <a:r>
              <a:rPr lang="en-US" sz="3200" dirty="0" smtClean="0">
                <a:latin typeface="Times New Roman" pitchFamily="18" charset="0"/>
                <a:cs typeface="Times New Roman" pitchFamily="18" charset="0"/>
              </a:rPr>
              <a:t>references</a:t>
            </a:r>
            <a:endParaRPr lang="en-US" sz="3200"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066800"/>
            <a:ext cx="8229600" cy="5407152"/>
          </a:xfrm>
        </p:spPr>
        <p:txBody>
          <a:bodyPr>
            <a:noAutofit/>
          </a:bodyPr>
          <a:lstStyle/>
          <a:p>
            <a:pPr marL="342900" indent="-342900">
              <a:buNone/>
            </a:pPr>
            <a:r>
              <a:rPr lang="en-US" sz="1600" dirty="0" smtClean="0"/>
              <a:t>1.  </a:t>
            </a:r>
            <a:r>
              <a:rPr lang="en-US" sz="1600" dirty="0" smtClean="0">
                <a:latin typeface="Times New Roman" pitchFamily="18" charset="0"/>
                <a:cs typeface="Times New Roman" pitchFamily="18" charset="0"/>
              </a:rPr>
              <a:t>D. Rodriguez and S. </a:t>
            </a:r>
            <a:r>
              <a:rPr lang="en-US" sz="1600" dirty="0" err="1" smtClean="0">
                <a:latin typeface="Times New Roman" pitchFamily="18" charset="0"/>
                <a:cs typeface="Times New Roman" pitchFamily="18" charset="0"/>
              </a:rPr>
              <a:t>Behnke</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Deepwalk</a:t>
            </a:r>
            <a:r>
              <a:rPr lang="en-US" sz="1600" dirty="0" smtClean="0">
                <a:latin typeface="Times New Roman" pitchFamily="18" charset="0"/>
                <a:cs typeface="Times New Roman" pitchFamily="18" charset="0"/>
              </a:rPr>
              <a:t>: Omnidirectional bipedal gait by deep reinforcement learning,” in 2021 IEEE International Confer-</a:t>
            </a:r>
            <a:br>
              <a:rPr lang="en-US" sz="1600" dirty="0" smtClean="0">
                <a:latin typeface="Times New Roman" pitchFamily="18" charset="0"/>
                <a:cs typeface="Times New Roman" pitchFamily="18" charset="0"/>
              </a:rPr>
            </a:br>
            <a:r>
              <a:rPr lang="en-US" sz="1600" dirty="0" err="1" smtClean="0">
                <a:latin typeface="Times New Roman" pitchFamily="18" charset="0"/>
                <a:cs typeface="Times New Roman" pitchFamily="18" charset="0"/>
              </a:rPr>
              <a:t>ence</a:t>
            </a:r>
            <a:r>
              <a:rPr lang="en-US" sz="1600" dirty="0" smtClean="0">
                <a:latin typeface="Times New Roman" pitchFamily="18" charset="0"/>
                <a:cs typeface="Times New Roman" pitchFamily="18" charset="0"/>
              </a:rPr>
              <a:t> on Robotics and Automation (ICRA) (IEEE, 2021) pp. 3033–3039.</a:t>
            </a:r>
          </a:p>
          <a:p>
            <a:pPr marL="342900" indent="-342900">
              <a:buNone/>
            </a:pPr>
            <a:r>
              <a:rPr lang="en-US" sz="1600" dirty="0" smtClean="0">
                <a:latin typeface="Times New Roman" pitchFamily="18" charset="0"/>
                <a:cs typeface="Times New Roman" pitchFamily="18" charset="0"/>
              </a:rPr>
              <a:t>2. G. </a:t>
            </a:r>
            <a:r>
              <a:rPr lang="en-US" sz="1600" dirty="0" err="1" smtClean="0">
                <a:latin typeface="Times New Roman" pitchFamily="18" charset="0"/>
                <a:cs typeface="Times New Roman" pitchFamily="18" charset="0"/>
              </a:rPr>
              <a:t>Bellegarda</a:t>
            </a:r>
            <a:r>
              <a:rPr lang="en-US" sz="1600" dirty="0" smtClean="0">
                <a:latin typeface="Times New Roman" pitchFamily="18" charset="0"/>
                <a:cs typeface="Times New Roman" pitchFamily="18" charset="0"/>
              </a:rPr>
              <a:t> and Q. Nguyen, “Robust quadruped jumping via deep reinforcement learning,” </a:t>
            </a:r>
            <a:r>
              <a:rPr lang="en-US" sz="1600" dirty="0" err="1" smtClean="0">
                <a:latin typeface="Times New Roman" pitchFamily="18" charset="0"/>
                <a:cs typeface="Times New Roman" pitchFamily="18" charset="0"/>
              </a:rPr>
              <a:t>arXiv</a:t>
            </a:r>
            <a:r>
              <a:rPr lang="en-US" sz="1600" dirty="0" smtClean="0">
                <a:latin typeface="Times New Roman" pitchFamily="18" charset="0"/>
                <a:cs typeface="Times New Roman" pitchFamily="18" charset="0"/>
              </a:rPr>
              <a:t> preprint arXiv:2011.07089 (2020).</a:t>
            </a:r>
          </a:p>
          <a:p>
            <a:pPr marL="342900" indent="-342900">
              <a:buNone/>
            </a:pPr>
            <a:r>
              <a:rPr lang="en-US" sz="1600" dirty="0" smtClean="0">
                <a:latin typeface="Times New Roman" pitchFamily="18" charset="0"/>
                <a:cs typeface="Times New Roman" pitchFamily="18" charset="0"/>
              </a:rPr>
              <a:t>3. J. </a:t>
            </a:r>
            <a:r>
              <a:rPr lang="en-US" sz="1600" dirty="0" err="1" smtClean="0">
                <a:latin typeface="Times New Roman" pitchFamily="18" charset="0"/>
                <a:cs typeface="Times New Roman" pitchFamily="18" charset="0"/>
              </a:rPr>
              <a:t>Ibarz</a:t>
            </a:r>
            <a:r>
              <a:rPr lang="en-US" sz="1600" dirty="0" smtClean="0">
                <a:latin typeface="Times New Roman" pitchFamily="18" charset="0"/>
                <a:cs typeface="Times New Roman" pitchFamily="18" charset="0"/>
              </a:rPr>
              <a:t>, J. Tan, C. Finn, M. </a:t>
            </a:r>
            <a:r>
              <a:rPr lang="en-US" sz="1600" dirty="0" err="1" smtClean="0">
                <a:latin typeface="Times New Roman" pitchFamily="18" charset="0"/>
                <a:cs typeface="Times New Roman" pitchFamily="18" charset="0"/>
              </a:rPr>
              <a:t>Kalakrishnan</a:t>
            </a:r>
            <a:r>
              <a:rPr lang="en-US" sz="1600" dirty="0" smtClean="0">
                <a:latin typeface="Times New Roman" pitchFamily="18" charset="0"/>
                <a:cs typeface="Times New Roman" pitchFamily="18" charset="0"/>
              </a:rPr>
              <a:t>, P. Pastor, and S. Levine, “How to train your robot with deep reinforcement learning: lessons we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have learned,” The International Journal of Robotics Research 40, 698 – 721 (2021).</a:t>
            </a:r>
          </a:p>
          <a:p>
            <a:pPr>
              <a:buNone/>
            </a:pPr>
            <a:r>
              <a:rPr lang="en-US" sz="1600" dirty="0" smtClean="0">
                <a:latin typeface="Times New Roman" pitchFamily="18" charset="0"/>
                <a:cs typeface="Times New Roman" pitchFamily="18" charset="0"/>
              </a:rPr>
              <a:t>4. T. </a:t>
            </a:r>
            <a:r>
              <a:rPr lang="en-US" sz="1600" dirty="0" err="1" smtClean="0">
                <a:latin typeface="Times New Roman" pitchFamily="18" charset="0"/>
                <a:cs typeface="Times New Roman" pitchFamily="18" charset="0"/>
              </a:rPr>
              <a:t>Haarnoja</a:t>
            </a:r>
            <a:r>
              <a:rPr lang="en-US" sz="1600" dirty="0" smtClean="0">
                <a:latin typeface="Times New Roman" pitchFamily="18" charset="0"/>
                <a:cs typeface="Times New Roman" pitchFamily="18" charset="0"/>
              </a:rPr>
              <a:t>, A. Zhou, S. Ha, J. Tan, G. Tucker, and S. Levine, “Learning to walk via deep reinforcement learning,” </a:t>
            </a:r>
            <a:r>
              <a:rPr lang="en-US" sz="1600" dirty="0" err="1" smtClean="0">
                <a:latin typeface="Times New Roman" pitchFamily="18" charset="0"/>
                <a:cs typeface="Times New Roman" pitchFamily="18" charset="0"/>
              </a:rPr>
              <a:t>ArXiv</a:t>
            </a:r>
            <a:r>
              <a:rPr lang="en-US" sz="1600" dirty="0" smtClean="0">
                <a:latin typeface="Times New Roman" pitchFamily="18" charset="0"/>
                <a:cs typeface="Times New Roman" pitchFamily="18" charset="0"/>
              </a:rPr>
              <a:t> abs/1812.11103</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(2019).</a:t>
            </a:r>
          </a:p>
          <a:p>
            <a:pPr>
              <a:buNone/>
            </a:pPr>
            <a:r>
              <a:rPr lang="en-US" sz="1600" dirty="0" smtClean="0">
                <a:latin typeface="Times New Roman" pitchFamily="18" charset="0"/>
                <a:cs typeface="Times New Roman" pitchFamily="18" charset="0"/>
              </a:rPr>
              <a:t>5. T. P. </a:t>
            </a:r>
            <a:r>
              <a:rPr lang="en-US" sz="1600" dirty="0" err="1" smtClean="0">
                <a:latin typeface="Times New Roman" pitchFamily="18" charset="0"/>
                <a:cs typeface="Times New Roman" pitchFamily="18" charset="0"/>
              </a:rPr>
              <a:t>Lillicrap</a:t>
            </a:r>
            <a:r>
              <a:rPr lang="en-US" sz="1600" dirty="0" smtClean="0">
                <a:latin typeface="Times New Roman" pitchFamily="18" charset="0"/>
                <a:cs typeface="Times New Roman" pitchFamily="18" charset="0"/>
              </a:rPr>
              <a:t>, J. J. Hunt, A. </a:t>
            </a:r>
            <a:r>
              <a:rPr lang="en-US" sz="1600" dirty="0" err="1" smtClean="0">
                <a:latin typeface="Times New Roman" pitchFamily="18" charset="0"/>
                <a:cs typeface="Times New Roman" pitchFamily="18" charset="0"/>
              </a:rPr>
              <a:t>Pritzel</a:t>
            </a:r>
            <a:r>
              <a:rPr lang="en-US" sz="1600" dirty="0" smtClean="0">
                <a:latin typeface="Times New Roman" pitchFamily="18" charset="0"/>
                <a:cs typeface="Times New Roman" pitchFamily="18" charset="0"/>
              </a:rPr>
              <a:t>, N. M. O. </a:t>
            </a:r>
            <a:r>
              <a:rPr lang="en-US" sz="1600" dirty="0" err="1" smtClean="0">
                <a:latin typeface="Times New Roman" pitchFamily="18" charset="0"/>
                <a:cs typeface="Times New Roman" pitchFamily="18" charset="0"/>
              </a:rPr>
              <a:t>Heess</a:t>
            </a:r>
            <a:r>
              <a:rPr lang="en-US" sz="1600" dirty="0" smtClean="0">
                <a:latin typeface="Times New Roman" pitchFamily="18" charset="0"/>
                <a:cs typeface="Times New Roman" pitchFamily="18" charset="0"/>
              </a:rPr>
              <a:t>, T. </a:t>
            </a:r>
            <a:r>
              <a:rPr lang="en-US" sz="1600" dirty="0" err="1" smtClean="0">
                <a:latin typeface="Times New Roman" pitchFamily="18" charset="0"/>
                <a:cs typeface="Times New Roman" pitchFamily="18" charset="0"/>
              </a:rPr>
              <a:t>Erez</a:t>
            </a:r>
            <a:r>
              <a:rPr lang="en-US" sz="1600" dirty="0" smtClean="0">
                <a:latin typeface="Times New Roman" pitchFamily="18" charset="0"/>
                <a:cs typeface="Times New Roman" pitchFamily="18" charset="0"/>
              </a:rPr>
              <a:t>, Y. </a:t>
            </a:r>
            <a:r>
              <a:rPr lang="en-US" sz="1600" dirty="0" err="1" smtClean="0">
                <a:latin typeface="Times New Roman" pitchFamily="18" charset="0"/>
                <a:cs typeface="Times New Roman" pitchFamily="18" charset="0"/>
              </a:rPr>
              <a:t>Tassa</a:t>
            </a:r>
            <a:r>
              <a:rPr lang="en-US" sz="1600" dirty="0" smtClean="0">
                <a:latin typeface="Times New Roman" pitchFamily="18" charset="0"/>
                <a:cs typeface="Times New Roman" pitchFamily="18" charset="0"/>
              </a:rPr>
              <a:t>, D. Silver, and D. </a:t>
            </a:r>
            <a:r>
              <a:rPr lang="en-US" sz="1600" dirty="0" err="1" smtClean="0">
                <a:latin typeface="Times New Roman" pitchFamily="18" charset="0"/>
                <a:cs typeface="Times New Roman" pitchFamily="18" charset="0"/>
              </a:rPr>
              <a:t>Wierstra</a:t>
            </a:r>
            <a:r>
              <a:rPr lang="en-US" sz="1600" dirty="0" smtClean="0">
                <a:latin typeface="Times New Roman" pitchFamily="18" charset="0"/>
                <a:cs typeface="Times New Roman" pitchFamily="18" charset="0"/>
              </a:rPr>
              <a:t>, “Continuous control with deep reinforcement</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learning,” </a:t>
            </a:r>
            <a:r>
              <a:rPr lang="en-US" sz="1600" dirty="0" err="1" smtClean="0">
                <a:latin typeface="Times New Roman" pitchFamily="18" charset="0"/>
                <a:cs typeface="Times New Roman" pitchFamily="18" charset="0"/>
              </a:rPr>
              <a:t>CoRR</a:t>
            </a:r>
            <a:r>
              <a:rPr lang="en-US" sz="1600" dirty="0" smtClean="0">
                <a:latin typeface="Times New Roman" pitchFamily="18" charset="0"/>
                <a:cs typeface="Times New Roman" pitchFamily="18" charset="0"/>
              </a:rPr>
              <a:t> abs/1509.02971 (2016).</a:t>
            </a:r>
          </a:p>
          <a:p>
            <a:pPr>
              <a:buNone/>
            </a:pPr>
            <a:r>
              <a:rPr lang="en-US" sz="1600" dirty="0" smtClean="0">
                <a:latin typeface="Times New Roman" pitchFamily="18" charset="0"/>
                <a:cs typeface="Times New Roman" pitchFamily="18" charset="0"/>
              </a:rPr>
              <a:t>6. S. Fujimoto, D. </a:t>
            </a:r>
            <a:r>
              <a:rPr lang="en-US" sz="1600" dirty="0" err="1" smtClean="0">
                <a:latin typeface="Times New Roman" pitchFamily="18" charset="0"/>
                <a:cs typeface="Times New Roman" pitchFamily="18" charset="0"/>
              </a:rPr>
              <a:t>Meger</a:t>
            </a:r>
            <a:r>
              <a:rPr lang="en-US" sz="1600" dirty="0" smtClean="0">
                <a:latin typeface="Times New Roman" pitchFamily="18" charset="0"/>
                <a:cs typeface="Times New Roman" pitchFamily="18" charset="0"/>
              </a:rPr>
              <a:t>, and D. </a:t>
            </a:r>
            <a:r>
              <a:rPr lang="en-US" sz="1600" dirty="0" err="1" smtClean="0">
                <a:latin typeface="Times New Roman" pitchFamily="18" charset="0"/>
                <a:cs typeface="Times New Roman" pitchFamily="18" charset="0"/>
              </a:rPr>
              <a:t>Precup</a:t>
            </a:r>
            <a:r>
              <a:rPr lang="en-US" sz="1600" dirty="0" smtClean="0">
                <a:latin typeface="Times New Roman" pitchFamily="18" charset="0"/>
                <a:cs typeface="Times New Roman" pitchFamily="18" charset="0"/>
              </a:rPr>
              <a:t>, “Off-policy deep reinforcement learning without exploration,” in ICML (2019).</a:t>
            </a:r>
          </a:p>
          <a:p>
            <a:pPr>
              <a:buNone/>
            </a:pPr>
            <a:r>
              <a:rPr lang="en-US" sz="1600" dirty="0" smtClean="0">
                <a:latin typeface="Times New Roman" pitchFamily="18" charset="0"/>
                <a:cs typeface="Times New Roman" pitchFamily="18" charset="0"/>
              </a:rPr>
              <a:t>7. T. </a:t>
            </a:r>
            <a:r>
              <a:rPr lang="en-US" sz="1600" dirty="0" err="1" smtClean="0">
                <a:latin typeface="Times New Roman" pitchFamily="18" charset="0"/>
                <a:cs typeface="Times New Roman" pitchFamily="18" charset="0"/>
              </a:rPr>
              <a:t>Haarnoja</a:t>
            </a:r>
            <a:r>
              <a:rPr lang="en-US" sz="1600" dirty="0" smtClean="0">
                <a:latin typeface="Times New Roman" pitchFamily="18" charset="0"/>
                <a:cs typeface="Times New Roman" pitchFamily="18" charset="0"/>
              </a:rPr>
              <a:t>, H. Tang, P. </a:t>
            </a:r>
            <a:r>
              <a:rPr lang="en-US" sz="1600" dirty="0" err="1" smtClean="0">
                <a:latin typeface="Times New Roman" pitchFamily="18" charset="0"/>
                <a:cs typeface="Times New Roman" pitchFamily="18" charset="0"/>
              </a:rPr>
              <a:t>Abbeel</a:t>
            </a:r>
            <a:r>
              <a:rPr lang="en-US" sz="1600" dirty="0" smtClean="0">
                <a:latin typeface="Times New Roman" pitchFamily="18" charset="0"/>
                <a:cs typeface="Times New Roman" pitchFamily="18" charset="0"/>
              </a:rPr>
              <a:t>, and S. Levine, “Reinforcement learning with deep energy-based policies,” in ICML (2017).</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M. </a:t>
            </a:r>
            <a:r>
              <a:rPr lang="en-US" sz="1600" dirty="0" err="1" smtClean="0">
                <a:latin typeface="Times New Roman" pitchFamily="18" charset="0"/>
                <a:cs typeface="Times New Roman" pitchFamily="18" charset="0"/>
              </a:rPr>
              <a:t>Hutter</a:t>
            </a:r>
            <a:r>
              <a:rPr lang="en-US" sz="1600" dirty="0" smtClean="0">
                <a:latin typeface="Times New Roman" pitchFamily="18" charset="0"/>
                <a:cs typeface="Times New Roman" pitchFamily="18" charset="0"/>
              </a:rPr>
              <a:t>, “Learning agile and dynamic motor skills for legged</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robots,” Science Robotics 4 (2019).                </a:t>
            </a:r>
            <a:r>
              <a:rPr lang="en-US" sz="1400" dirty="0" smtClean="0">
                <a:latin typeface="+mj-lt"/>
                <a:cs typeface="Times New Roman" pitchFamily="18" charset="0"/>
              </a:rPr>
              <a:t>25</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800" dirty="0" smtClean="0"/>
              <a:t/>
            </a:r>
            <a:br>
              <a:rPr lang="en-US" sz="1800" dirty="0" smtClean="0"/>
            </a:br>
            <a:r>
              <a:rPr lang="en-US" sz="1800" dirty="0" smtClean="0"/>
              <a:t/>
            </a:r>
            <a:br>
              <a:rPr lang="en-US" sz="1800" dirty="0" smtClean="0"/>
            </a:br>
            <a:endParaRPr lang="en-US" sz="18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3562"/>
          </a:xfrm>
        </p:spPr>
        <p:txBody>
          <a:bodyPr/>
          <a:lstStyle/>
          <a:p>
            <a:r>
              <a:rPr lang="en-US" dirty="0" smtClean="0"/>
              <a:t>References</a:t>
            </a:r>
            <a:endParaRPr lang="en-US" dirty="0"/>
          </a:p>
        </p:txBody>
      </p:sp>
      <p:sp>
        <p:nvSpPr>
          <p:cNvPr id="3" name="Content Placeholder 2"/>
          <p:cNvSpPr>
            <a:spLocks noGrp="1"/>
          </p:cNvSpPr>
          <p:nvPr>
            <p:ph sz="quarter" idx="1"/>
          </p:nvPr>
        </p:nvSpPr>
        <p:spPr>
          <a:xfrm>
            <a:off x="457200" y="1066800"/>
            <a:ext cx="8305800" cy="5407152"/>
          </a:xfrm>
        </p:spPr>
        <p:txBody>
          <a:bodyPr>
            <a:noAutofit/>
          </a:bodyPr>
          <a:lstStyle/>
          <a:p>
            <a:pPr>
              <a:buNone/>
            </a:pPr>
            <a:r>
              <a:rPr lang="en-US" sz="1600" dirty="0" smtClean="0">
                <a:latin typeface="Times New Roman" pitchFamily="18" charset="0"/>
                <a:cs typeface="Times New Roman" pitchFamily="18" charset="0"/>
              </a:rPr>
              <a:t>8. Q. Nguyen, M. J. Powell, B. Katz, J. D. Carlo, and S. Kim, “Optimized jumping on the </a:t>
            </a:r>
            <a:r>
              <a:rPr lang="en-US" sz="1600" dirty="0" err="1" smtClean="0">
                <a:latin typeface="Times New Roman" pitchFamily="18" charset="0"/>
                <a:cs typeface="Times New Roman" pitchFamily="18" charset="0"/>
              </a:rPr>
              <a:t>mit</a:t>
            </a:r>
            <a:r>
              <a:rPr lang="en-US" sz="1600" dirty="0" smtClean="0">
                <a:latin typeface="Times New Roman" pitchFamily="18" charset="0"/>
                <a:cs typeface="Times New Roman" pitchFamily="18" charset="0"/>
              </a:rPr>
              <a:t> cheetah 3 robot,” 2019 International Conference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on Robotics and Automation (ICRA) , 7448–7454 (2019).</a:t>
            </a:r>
          </a:p>
          <a:p>
            <a:pPr>
              <a:buNone/>
            </a:pPr>
            <a:r>
              <a:rPr lang="en-US" sz="1600" dirty="0" smtClean="0">
                <a:latin typeface="Times New Roman" pitchFamily="18" charset="0"/>
                <a:cs typeface="Times New Roman" pitchFamily="18" charset="0"/>
              </a:rPr>
              <a:t>9. V. </a:t>
            </a:r>
            <a:r>
              <a:rPr lang="en-US" sz="1600" dirty="0" err="1" smtClean="0">
                <a:latin typeface="Times New Roman" pitchFamily="18" charset="0"/>
                <a:cs typeface="Times New Roman" pitchFamily="18" charset="0"/>
              </a:rPr>
              <a:t>Tsounis</a:t>
            </a:r>
            <a:r>
              <a:rPr lang="en-US" sz="1600" dirty="0" smtClean="0">
                <a:latin typeface="Times New Roman" pitchFamily="18" charset="0"/>
                <a:cs typeface="Times New Roman" pitchFamily="18" charset="0"/>
              </a:rPr>
              <a:t>, M. </a:t>
            </a:r>
            <a:r>
              <a:rPr lang="en-US" sz="1600" dirty="0" err="1" smtClean="0">
                <a:latin typeface="Times New Roman" pitchFamily="18" charset="0"/>
                <a:cs typeface="Times New Roman" pitchFamily="18" charset="0"/>
              </a:rPr>
              <a:t>Alge</a:t>
            </a:r>
            <a:r>
              <a:rPr lang="en-US" sz="1600" dirty="0" smtClean="0">
                <a:latin typeface="Times New Roman" pitchFamily="18" charset="0"/>
                <a:cs typeface="Times New Roman" pitchFamily="18" charset="0"/>
              </a:rPr>
              <a:t>, J. Lee, F. </a:t>
            </a:r>
            <a:r>
              <a:rPr lang="en-US" sz="1600" dirty="0" err="1" smtClean="0">
                <a:latin typeface="Times New Roman" pitchFamily="18" charset="0"/>
                <a:cs typeface="Times New Roman" pitchFamily="18" charset="0"/>
              </a:rPr>
              <a:t>Farshidian</a:t>
            </a:r>
            <a:r>
              <a:rPr lang="en-US" sz="1600" dirty="0" smtClean="0">
                <a:latin typeface="Times New Roman" pitchFamily="18" charset="0"/>
                <a:cs typeface="Times New Roman" pitchFamily="18" charset="0"/>
              </a:rPr>
              <a:t>, and M. </a:t>
            </a:r>
            <a:r>
              <a:rPr lang="en-US" sz="1600" dirty="0" err="1" smtClean="0">
                <a:latin typeface="Times New Roman" pitchFamily="18" charset="0"/>
                <a:cs typeface="Times New Roman" pitchFamily="18" charset="0"/>
              </a:rPr>
              <a:t>Hutter</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Deepgait</a:t>
            </a:r>
            <a:r>
              <a:rPr lang="en-US" sz="1600" dirty="0" smtClean="0">
                <a:latin typeface="Times New Roman" pitchFamily="18" charset="0"/>
                <a:cs typeface="Times New Roman" pitchFamily="18" charset="0"/>
              </a:rPr>
              <a:t>: Planning and control of </a:t>
            </a:r>
            <a:r>
              <a:rPr lang="en-US" sz="1600" dirty="0" err="1" smtClean="0">
                <a:latin typeface="Times New Roman" pitchFamily="18" charset="0"/>
                <a:cs typeface="Times New Roman" pitchFamily="18" charset="0"/>
              </a:rPr>
              <a:t>quadrupedal</a:t>
            </a:r>
            <a:r>
              <a:rPr lang="en-US" sz="1600" dirty="0" smtClean="0">
                <a:latin typeface="Times New Roman" pitchFamily="18" charset="0"/>
                <a:cs typeface="Times New Roman" pitchFamily="18" charset="0"/>
              </a:rPr>
              <a:t> gaits using deep reinforcement</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learning,” IEEE Robotics and Automation Letters 5, 3699–3706 (2020).</a:t>
            </a:r>
          </a:p>
          <a:p>
            <a:pPr>
              <a:buNone/>
            </a:pPr>
            <a:r>
              <a:rPr lang="en-US" sz="1600" dirty="0" smtClean="0">
                <a:latin typeface="Times New Roman" pitchFamily="18" charset="0"/>
                <a:cs typeface="Times New Roman" pitchFamily="18" charset="0"/>
              </a:rPr>
              <a:t>10. S. Ha, J. Kim, and K. Yamane, “Automated deep reinforcement learning environment for hardware of a modular legged robot,” in 2018 15th</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international conference on ubiquitous robots (UR) (IEEE, 2018) pp. 348–354.</a:t>
            </a:r>
          </a:p>
          <a:p>
            <a:pPr>
              <a:buNone/>
            </a:pPr>
            <a:r>
              <a:rPr lang="en-US" sz="1600" dirty="0" smtClean="0">
                <a:latin typeface="Times New Roman" pitchFamily="18" charset="0"/>
                <a:cs typeface="Times New Roman" pitchFamily="18" charset="0"/>
              </a:rPr>
              <a:t>11. J. Fu, J. D. Co-Reyes, and S. Levine, “Ex2: Exploration with exemplar models for deep reinforcement learning,” in NIPS (2017).</a:t>
            </a:r>
          </a:p>
          <a:p>
            <a:pPr>
              <a:buNone/>
            </a:pPr>
            <a:r>
              <a:rPr lang="en-US" sz="1600" dirty="0" smtClean="0">
                <a:latin typeface="Times New Roman" pitchFamily="18" charset="0"/>
                <a:cs typeface="Times New Roman" pitchFamily="18" charset="0"/>
              </a:rPr>
              <a:t>12. T. Xiao, E. Jang, D. Kalashnikov, S. Levine, J. </a:t>
            </a:r>
            <a:r>
              <a:rPr lang="en-US" sz="1600" dirty="0" err="1" smtClean="0">
                <a:latin typeface="Times New Roman" pitchFamily="18" charset="0"/>
                <a:cs typeface="Times New Roman" pitchFamily="18" charset="0"/>
              </a:rPr>
              <a:t>Ibarz</a:t>
            </a:r>
            <a:r>
              <a:rPr lang="en-US" sz="1600" dirty="0" smtClean="0">
                <a:latin typeface="Times New Roman" pitchFamily="18" charset="0"/>
                <a:cs typeface="Times New Roman" pitchFamily="18" charset="0"/>
              </a:rPr>
              <a:t>, K. </a:t>
            </a:r>
            <a:r>
              <a:rPr lang="en-US" sz="1600" dirty="0" err="1" smtClean="0">
                <a:latin typeface="Times New Roman" pitchFamily="18" charset="0"/>
                <a:cs typeface="Times New Roman" pitchFamily="18" charset="0"/>
              </a:rPr>
              <a:t>Hausman</a:t>
            </a:r>
            <a:r>
              <a:rPr lang="en-US" sz="1600" dirty="0" smtClean="0">
                <a:latin typeface="Times New Roman" pitchFamily="18" charset="0"/>
                <a:cs typeface="Times New Roman" pitchFamily="18" charset="0"/>
              </a:rPr>
              <a:t>, and A. Herzog, “Thinking while moving: Deep reinforcement learning</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with concurrent control,” </a:t>
            </a:r>
            <a:r>
              <a:rPr lang="en-US" sz="1600" dirty="0" err="1" smtClean="0">
                <a:latin typeface="Times New Roman" pitchFamily="18" charset="0"/>
                <a:cs typeface="Times New Roman" pitchFamily="18" charset="0"/>
              </a:rPr>
              <a:t>ArXiv</a:t>
            </a:r>
            <a:r>
              <a:rPr lang="en-US" sz="1600" dirty="0" smtClean="0">
                <a:latin typeface="Times New Roman" pitchFamily="18" charset="0"/>
                <a:cs typeface="Times New Roman" pitchFamily="18" charset="0"/>
              </a:rPr>
              <a:t> abs/2004.06089 (2020).</a:t>
            </a:r>
          </a:p>
          <a:p>
            <a:pPr>
              <a:buNone/>
            </a:pPr>
            <a:r>
              <a:rPr lang="en-US" sz="1600" dirty="0" smtClean="0">
                <a:latin typeface="Times New Roman" pitchFamily="18" charset="0"/>
                <a:cs typeface="Times New Roman" pitchFamily="18" charset="0"/>
              </a:rPr>
              <a:t>13. Z. </a:t>
            </a:r>
            <a:r>
              <a:rPr lang="en-US" sz="1600" dirty="0" err="1" smtClean="0">
                <a:latin typeface="Times New Roman" pitchFamily="18" charset="0"/>
                <a:cs typeface="Times New Roman" pitchFamily="18" charset="0"/>
              </a:rPr>
              <a:t>Xie</a:t>
            </a:r>
            <a:r>
              <a:rPr lang="en-US" sz="1600" dirty="0" smtClean="0">
                <a:latin typeface="Times New Roman" pitchFamily="18" charset="0"/>
                <a:cs typeface="Times New Roman" pitchFamily="18" charset="0"/>
              </a:rPr>
              <a:t>, P. Clary, J. Dao, P. </a:t>
            </a:r>
            <a:r>
              <a:rPr lang="en-US" sz="1600" dirty="0" err="1" smtClean="0">
                <a:latin typeface="Times New Roman" pitchFamily="18" charset="0"/>
                <a:cs typeface="Times New Roman" pitchFamily="18" charset="0"/>
              </a:rPr>
              <a:t>Morais</a:t>
            </a:r>
            <a:r>
              <a:rPr lang="en-US" sz="1600" dirty="0" smtClean="0">
                <a:latin typeface="Times New Roman" pitchFamily="18" charset="0"/>
                <a:cs typeface="Times New Roman" pitchFamily="18" charset="0"/>
              </a:rPr>
              <a:t>, J. Hurst, and M. van de </a:t>
            </a:r>
            <a:r>
              <a:rPr lang="en-US" sz="1600" dirty="0" err="1" smtClean="0">
                <a:latin typeface="Times New Roman" pitchFamily="18" charset="0"/>
                <a:cs typeface="Times New Roman" pitchFamily="18" charset="0"/>
              </a:rPr>
              <a:t>Panne</a:t>
            </a:r>
            <a:r>
              <a:rPr lang="en-US" sz="1600" dirty="0" smtClean="0">
                <a:latin typeface="Times New Roman" pitchFamily="18" charset="0"/>
                <a:cs typeface="Times New Roman" pitchFamily="18" charset="0"/>
              </a:rPr>
              <a:t>, “Learning locomotion skills for </a:t>
            </a:r>
            <a:r>
              <a:rPr lang="en-US" sz="1600" dirty="0" err="1" smtClean="0">
                <a:latin typeface="Times New Roman" pitchFamily="18" charset="0"/>
                <a:cs typeface="Times New Roman" pitchFamily="18" charset="0"/>
              </a:rPr>
              <a:t>cassie</a:t>
            </a:r>
            <a:r>
              <a:rPr lang="en-US" sz="1600" dirty="0" smtClean="0">
                <a:latin typeface="Times New Roman" pitchFamily="18" charset="0"/>
                <a:cs typeface="Times New Roman" pitchFamily="18" charset="0"/>
              </a:rPr>
              <a:t>: Iterative design and </a:t>
            </a:r>
            <a:r>
              <a:rPr lang="en-US" sz="1600" dirty="0" err="1" smtClean="0">
                <a:latin typeface="Times New Roman" pitchFamily="18" charset="0"/>
                <a:cs typeface="Times New Roman" pitchFamily="18" charset="0"/>
              </a:rPr>
              <a:t>sim</a:t>
            </a:r>
            <a:r>
              <a:rPr lang="en-US" sz="1600" dirty="0" smtClean="0">
                <a:latin typeface="Times New Roman" pitchFamily="18" charset="0"/>
                <a:cs typeface="Times New Roman" pitchFamily="18" charset="0"/>
              </a:rPr>
              <a:t>-to-real,” in</a:t>
            </a:r>
            <a:br>
              <a:rPr lang="en-US" sz="1600" dirty="0" smtClean="0">
                <a:latin typeface="Times New Roman" pitchFamily="18" charset="0"/>
                <a:cs typeface="Times New Roman" pitchFamily="18" charset="0"/>
              </a:rPr>
            </a:br>
            <a:r>
              <a:rPr lang="en-US" sz="1600" dirty="0" err="1" smtClean="0">
                <a:latin typeface="Times New Roman" pitchFamily="18" charset="0"/>
                <a:cs typeface="Times New Roman" pitchFamily="18" charset="0"/>
              </a:rPr>
              <a:t>CoRL</a:t>
            </a:r>
            <a:r>
              <a:rPr lang="en-US" sz="1600" dirty="0" smtClean="0">
                <a:latin typeface="Times New Roman" pitchFamily="18" charset="0"/>
                <a:cs typeface="Times New Roman" pitchFamily="18" charset="0"/>
              </a:rPr>
              <a:t> (2019).</a:t>
            </a:r>
          </a:p>
          <a:p>
            <a:pPr>
              <a:buNone/>
            </a:pPr>
            <a:r>
              <a:rPr lang="en-US" sz="1600" dirty="0" smtClean="0">
                <a:latin typeface="Times New Roman" pitchFamily="18" charset="0"/>
                <a:cs typeface="Times New Roman" pitchFamily="18" charset="0"/>
              </a:rPr>
              <a:t>14. J. </a:t>
            </a:r>
            <a:r>
              <a:rPr lang="en-US" sz="1600" dirty="0" err="1" smtClean="0">
                <a:latin typeface="Times New Roman" pitchFamily="18" charset="0"/>
                <a:cs typeface="Times New Roman" pitchFamily="18" charset="0"/>
              </a:rPr>
              <a:t>Hwangbo</a:t>
            </a:r>
            <a:r>
              <a:rPr lang="en-US" sz="1600" dirty="0" smtClean="0">
                <a:latin typeface="Times New Roman" pitchFamily="18" charset="0"/>
                <a:cs typeface="Times New Roman" pitchFamily="18" charset="0"/>
              </a:rPr>
              <a:t>, J. Lee, A. </a:t>
            </a:r>
            <a:r>
              <a:rPr lang="en-US" sz="1600" dirty="0" err="1" smtClean="0">
                <a:latin typeface="Times New Roman" pitchFamily="18" charset="0"/>
                <a:cs typeface="Times New Roman" pitchFamily="18" charset="0"/>
              </a:rPr>
              <a:t>Dosovitskiy</a:t>
            </a:r>
            <a:r>
              <a:rPr lang="en-US" sz="1600" dirty="0" smtClean="0">
                <a:latin typeface="Times New Roman" pitchFamily="18" charset="0"/>
                <a:cs typeface="Times New Roman" pitchFamily="18" charset="0"/>
              </a:rPr>
              <a:t>, D. </a:t>
            </a:r>
            <a:r>
              <a:rPr lang="en-US" sz="1600" dirty="0" err="1" smtClean="0">
                <a:latin typeface="Times New Roman" pitchFamily="18" charset="0"/>
                <a:cs typeface="Times New Roman" pitchFamily="18" charset="0"/>
              </a:rPr>
              <a:t>Bellicoso</a:t>
            </a:r>
            <a:r>
              <a:rPr lang="en-US" sz="1600" dirty="0" smtClean="0">
                <a:latin typeface="Times New Roman" pitchFamily="18" charset="0"/>
                <a:cs typeface="Times New Roman" pitchFamily="18" charset="0"/>
              </a:rPr>
              <a:t>, V. </a:t>
            </a:r>
            <a:r>
              <a:rPr lang="en-US" sz="1600" dirty="0" err="1" smtClean="0">
                <a:latin typeface="Times New Roman" pitchFamily="18" charset="0"/>
                <a:cs typeface="Times New Roman" pitchFamily="18" charset="0"/>
              </a:rPr>
              <a:t>Tsounis</a:t>
            </a:r>
            <a:r>
              <a:rPr lang="en-US" sz="1600" dirty="0" smtClean="0">
                <a:latin typeface="Times New Roman" pitchFamily="18" charset="0"/>
                <a:cs typeface="Times New Roman" pitchFamily="18" charset="0"/>
              </a:rPr>
              <a:t>, V. </a:t>
            </a:r>
            <a:r>
              <a:rPr lang="en-US" sz="1600" dirty="0" err="1" smtClean="0">
                <a:latin typeface="Times New Roman" pitchFamily="18" charset="0"/>
                <a:cs typeface="Times New Roman" pitchFamily="18" charset="0"/>
              </a:rPr>
              <a:t>Koltun</a:t>
            </a:r>
            <a:r>
              <a:rPr lang="en-US" sz="1600" dirty="0" smtClean="0">
                <a:latin typeface="Times New Roman" pitchFamily="18" charset="0"/>
                <a:cs typeface="Times New Roman" pitchFamily="18" charset="0"/>
              </a:rPr>
              <a:t>, and M. </a:t>
            </a:r>
            <a:r>
              <a:rPr lang="en-US" sz="1600" dirty="0" err="1" smtClean="0">
                <a:latin typeface="Times New Roman" pitchFamily="18" charset="0"/>
                <a:cs typeface="Times New Roman" pitchFamily="18" charset="0"/>
              </a:rPr>
              <a:t>Hutter</a:t>
            </a:r>
            <a:r>
              <a:rPr lang="en-US" sz="1600" dirty="0" smtClean="0">
                <a:latin typeface="Times New Roman" pitchFamily="18" charset="0"/>
                <a:cs typeface="Times New Roman" pitchFamily="18" charset="0"/>
              </a:rPr>
              <a:t>, “Learning agile and dynamic motor skills for legged</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robots,” Science Robotics 4 (2019).                </a:t>
            </a:r>
            <a:r>
              <a:rPr lang="en-US" sz="1400" dirty="0" smtClean="0">
                <a:latin typeface="+mj-lt"/>
                <a:cs typeface="Times New Roman" pitchFamily="18" charset="0"/>
              </a:rPr>
              <a:t>26</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endParaRPr lang="en-US" sz="1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a:bodyPr>
          <a:lstStyle/>
          <a:p>
            <a:r>
              <a:rPr lang="en-US" sz="3200" dirty="0" smtClean="0">
                <a:latin typeface="Times New Roman" pitchFamily="18" charset="0"/>
                <a:cs typeface="Times New Roman" pitchFamily="18" charset="0"/>
              </a:rPr>
              <a:t>References</a:t>
            </a:r>
            <a:endParaRPr lang="en-US" sz="3200"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457200" y="1066800"/>
            <a:ext cx="8077200" cy="5407152"/>
          </a:xfrm>
        </p:spPr>
        <p:txBody>
          <a:bodyPr>
            <a:normAutofit fontScale="92500" lnSpcReduction="10000"/>
          </a:bodyPr>
          <a:lstStyle/>
          <a:p>
            <a:pPr>
              <a:buNone/>
            </a:pPr>
            <a:r>
              <a:rPr lang="en-US" sz="1600" dirty="0" smtClean="0">
                <a:latin typeface="Times New Roman" pitchFamily="18" charset="0"/>
                <a:cs typeface="Times New Roman" pitchFamily="18" charset="0"/>
              </a:rPr>
              <a:t>15. P. F. </a:t>
            </a:r>
            <a:r>
              <a:rPr lang="en-US" sz="1600" dirty="0" err="1" smtClean="0">
                <a:latin typeface="Times New Roman" pitchFamily="18" charset="0"/>
                <a:cs typeface="Times New Roman" pitchFamily="18" charset="0"/>
              </a:rPr>
              <a:t>Christiano</a:t>
            </a:r>
            <a:r>
              <a:rPr lang="en-US" sz="1600" dirty="0" smtClean="0">
                <a:latin typeface="Times New Roman" pitchFamily="18" charset="0"/>
                <a:cs typeface="Times New Roman" pitchFamily="18" charset="0"/>
              </a:rPr>
              <a:t>, J. </a:t>
            </a:r>
            <a:r>
              <a:rPr lang="en-US" sz="1600" dirty="0" err="1" smtClean="0">
                <a:latin typeface="Times New Roman" pitchFamily="18" charset="0"/>
                <a:cs typeface="Times New Roman" pitchFamily="18" charset="0"/>
              </a:rPr>
              <a:t>Leike</a:t>
            </a:r>
            <a:r>
              <a:rPr lang="en-US" sz="1600" dirty="0" smtClean="0">
                <a:latin typeface="Times New Roman" pitchFamily="18" charset="0"/>
                <a:cs typeface="Times New Roman" pitchFamily="18" charset="0"/>
              </a:rPr>
              <a:t>, T. B. Brown, M. </a:t>
            </a:r>
            <a:r>
              <a:rPr lang="en-US" sz="1600" dirty="0" err="1" smtClean="0">
                <a:latin typeface="Times New Roman" pitchFamily="18" charset="0"/>
                <a:cs typeface="Times New Roman" pitchFamily="18" charset="0"/>
              </a:rPr>
              <a:t>Martic</a:t>
            </a:r>
            <a:r>
              <a:rPr lang="en-US" sz="1600" dirty="0" smtClean="0">
                <a:latin typeface="Times New Roman" pitchFamily="18" charset="0"/>
                <a:cs typeface="Times New Roman" pitchFamily="18" charset="0"/>
              </a:rPr>
              <a:t>, S. Legg, and D. </a:t>
            </a:r>
            <a:r>
              <a:rPr lang="en-US" sz="1600" dirty="0" err="1" smtClean="0">
                <a:latin typeface="Times New Roman" pitchFamily="18" charset="0"/>
                <a:cs typeface="Times New Roman" pitchFamily="18" charset="0"/>
              </a:rPr>
              <a:t>Amodei</a:t>
            </a:r>
            <a:r>
              <a:rPr lang="en-US" sz="1600" dirty="0" smtClean="0">
                <a:latin typeface="Times New Roman" pitchFamily="18" charset="0"/>
                <a:cs typeface="Times New Roman" pitchFamily="18" charset="0"/>
              </a:rPr>
              <a:t>, “Deep reinforcement learning from human preferences,” in NIPS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(2017).</a:t>
            </a:r>
          </a:p>
          <a:p>
            <a:pPr>
              <a:buNone/>
            </a:pPr>
            <a:r>
              <a:rPr lang="en-US" sz="1600" dirty="0" smtClean="0">
                <a:latin typeface="Times New Roman" pitchFamily="18" charset="0"/>
                <a:cs typeface="Times New Roman" pitchFamily="18" charset="0"/>
              </a:rPr>
              <a:t>16. X. B. </a:t>
            </a:r>
            <a:r>
              <a:rPr lang="en-US" sz="1600" dirty="0" err="1" smtClean="0">
                <a:latin typeface="Times New Roman" pitchFamily="18" charset="0"/>
                <a:cs typeface="Times New Roman" pitchFamily="18" charset="0"/>
              </a:rPr>
              <a:t>Peng</a:t>
            </a:r>
            <a:r>
              <a:rPr lang="en-US" sz="1600" dirty="0" smtClean="0">
                <a:latin typeface="Times New Roman" pitchFamily="18" charset="0"/>
                <a:cs typeface="Times New Roman" pitchFamily="18" charset="0"/>
              </a:rPr>
              <a:t>, G. </a:t>
            </a:r>
            <a:r>
              <a:rPr lang="en-US" sz="1600" dirty="0" err="1" smtClean="0">
                <a:latin typeface="Times New Roman" pitchFamily="18" charset="0"/>
                <a:cs typeface="Times New Roman" pitchFamily="18" charset="0"/>
              </a:rPr>
              <a:t>Berseth</a:t>
            </a:r>
            <a:r>
              <a:rPr lang="en-US" sz="1600" dirty="0" smtClean="0">
                <a:latin typeface="Times New Roman" pitchFamily="18" charset="0"/>
                <a:cs typeface="Times New Roman" pitchFamily="18" charset="0"/>
              </a:rPr>
              <a:t>, K. Yin, and M. Van De </a:t>
            </a:r>
            <a:r>
              <a:rPr lang="en-US" sz="1600" dirty="0" err="1" smtClean="0">
                <a:latin typeface="Times New Roman" pitchFamily="18" charset="0"/>
                <a:cs typeface="Times New Roman" pitchFamily="18" charset="0"/>
              </a:rPr>
              <a:t>Panne</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Deeploco</a:t>
            </a:r>
            <a:r>
              <a:rPr lang="en-US" sz="1600" dirty="0" smtClean="0">
                <a:latin typeface="Times New Roman" pitchFamily="18" charset="0"/>
                <a:cs typeface="Times New Roman" pitchFamily="18" charset="0"/>
              </a:rPr>
              <a:t>: Dynamic locomotion skills using hierarchical deep reinforcement learning,”</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ACM Trans. Graph. 36, 41:1–41:13 (2017).</a:t>
            </a:r>
          </a:p>
          <a:p>
            <a:pPr>
              <a:buNone/>
            </a:pPr>
            <a:r>
              <a:rPr lang="en-US" sz="1600" dirty="0" smtClean="0">
                <a:latin typeface="Times New Roman" pitchFamily="18" charset="0"/>
                <a:cs typeface="Times New Roman" pitchFamily="18" charset="0"/>
              </a:rPr>
              <a:t>17. J. </a:t>
            </a:r>
            <a:r>
              <a:rPr lang="en-US" sz="1600" dirty="0" err="1" smtClean="0">
                <a:latin typeface="Times New Roman" pitchFamily="18" charset="0"/>
                <a:cs typeface="Times New Roman" pitchFamily="18" charset="0"/>
              </a:rPr>
              <a:t>Hwangbo</a:t>
            </a:r>
            <a:r>
              <a:rPr lang="en-US" sz="1600" dirty="0" smtClean="0">
                <a:latin typeface="Times New Roman" pitchFamily="18" charset="0"/>
                <a:cs typeface="Times New Roman" pitchFamily="18" charset="0"/>
              </a:rPr>
              <a:t>, J. Lee, A. </a:t>
            </a:r>
            <a:r>
              <a:rPr lang="en-US" sz="1600" dirty="0" err="1" smtClean="0">
                <a:latin typeface="Times New Roman" pitchFamily="18" charset="0"/>
                <a:cs typeface="Times New Roman" pitchFamily="18" charset="0"/>
              </a:rPr>
              <a:t>Dosovitskiy</a:t>
            </a:r>
            <a:r>
              <a:rPr lang="en-US" sz="1600" dirty="0" smtClean="0">
                <a:latin typeface="Times New Roman" pitchFamily="18" charset="0"/>
                <a:cs typeface="Times New Roman" pitchFamily="18" charset="0"/>
              </a:rPr>
              <a:t>, D. </a:t>
            </a:r>
            <a:r>
              <a:rPr lang="en-US" sz="1600" dirty="0" err="1" smtClean="0">
                <a:latin typeface="Times New Roman" pitchFamily="18" charset="0"/>
                <a:cs typeface="Times New Roman" pitchFamily="18" charset="0"/>
              </a:rPr>
              <a:t>Bellicoso</a:t>
            </a:r>
            <a:r>
              <a:rPr lang="en-US" sz="1600" dirty="0" smtClean="0">
                <a:latin typeface="Times New Roman" pitchFamily="18" charset="0"/>
                <a:cs typeface="Times New Roman" pitchFamily="18" charset="0"/>
              </a:rPr>
              <a:t>, V. </a:t>
            </a:r>
            <a:r>
              <a:rPr lang="en-US" sz="1600" dirty="0" err="1" smtClean="0">
                <a:latin typeface="Times New Roman" pitchFamily="18" charset="0"/>
                <a:cs typeface="Times New Roman" pitchFamily="18" charset="0"/>
              </a:rPr>
              <a:t>Tsounis</a:t>
            </a:r>
            <a:r>
              <a:rPr lang="en-US" sz="1600" dirty="0" smtClean="0">
                <a:latin typeface="Times New Roman" pitchFamily="18" charset="0"/>
                <a:cs typeface="Times New Roman" pitchFamily="18" charset="0"/>
              </a:rPr>
              <a:t>, V. </a:t>
            </a:r>
            <a:r>
              <a:rPr lang="en-US" sz="1600" dirty="0" err="1" smtClean="0">
                <a:latin typeface="Times New Roman" pitchFamily="18" charset="0"/>
                <a:cs typeface="Times New Roman" pitchFamily="18" charset="0"/>
              </a:rPr>
              <a:t>Koltun</a:t>
            </a:r>
            <a:r>
              <a:rPr lang="en-US" sz="1600" dirty="0" smtClean="0">
                <a:latin typeface="Times New Roman" pitchFamily="18" charset="0"/>
                <a:cs typeface="Times New Roman" pitchFamily="18" charset="0"/>
              </a:rPr>
              <a:t>, and M. </a:t>
            </a:r>
            <a:r>
              <a:rPr lang="en-US" sz="1600" dirty="0" err="1" smtClean="0">
                <a:latin typeface="Times New Roman" pitchFamily="18" charset="0"/>
                <a:cs typeface="Times New Roman" pitchFamily="18" charset="0"/>
              </a:rPr>
              <a:t>Hutter</a:t>
            </a:r>
            <a:r>
              <a:rPr lang="en-US" sz="1600" dirty="0" smtClean="0">
                <a:latin typeface="Times New Roman" pitchFamily="18" charset="0"/>
                <a:cs typeface="Times New Roman" pitchFamily="18" charset="0"/>
              </a:rPr>
              <a:t>, “Learning agile and dynamic motor skills for legged</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robots,” Science Robotics 4 (2019).</a:t>
            </a:r>
          </a:p>
          <a:p>
            <a:pPr>
              <a:buNone/>
            </a:pPr>
            <a:r>
              <a:rPr lang="en-US" sz="1600" dirty="0" smtClean="0">
                <a:latin typeface="Times New Roman" pitchFamily="18" charset="0"/>
                <a:cs typeface="Times New Roman" pitchFamily="18" charset="0"/>
              </a:rPr>
              <a:t>18. S. Fujimoto, D. </a:t>
            </a:r>
            <a:r>
              <a:rPr lang="en-US" sz="1600" dirty="0" err="1" smtClean="0">
                <a:latin typeface="Times New Roman" pitchFamily="18" charset="0"/>
                <a:cs typeface="Times New Roman" pitchFamily="18" charset="0"/>
              </a:rPr>
              <a:t>Meger</a:t>
            </a:r>
            <a:r>
              <a:rPr lang="en-US" sz="1600" dirty="0" smtClean="0">
                <a:latin typeface="Times New Roman" pitchFamily="18" charset="0"/>
                <a:cs typeface="Times New Roman" pitchFamily="18" charset="0"/>
              </a:rPr>
              <a:t>, and D. </a:t>
            </a:r>
            <a:r>
              <a:rPr lang="en-US" sz="1600" dirty="0" err="1" smtClean="0">
                <a:latin typeface="Times New Roman" pitchFamily="18" charset="0"/>
                <a:cs typeface="Times New Roman" pitchFamily="18" charset="0"/>
              </a:rPr>
              <a:t>Precup</a:t>
            </a:r>
            <a:r>
              <a:rPr lang="en-US" sz="1600" dirty="0" smtClean="0">
                <a:latin typeface="Times New Roman" pitchFamily="18" charset="0"/>
                <a:cs typeface="Times New Roman" pitchFamily="18" charset="0"/>
              </a:rPr>
              <a:t>, “Off-policy deep reinforcement learning without exploration,” in International Conference on Machine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Learning (PMLR, 2019) pp. 2052–2062.</a:t>
            </a:r>
          </a:p>
          <a:p>
            <a:pPr>
              <a:buNone/>
            </a:pPr>
            <a:r>
              <a:rPr lang="en-US" sz="1600" dirty="0" smtClean="0">
                <a:latin typeface="Times New Roman" pitchFamily="18" charset="0"/>
                <a:cs typeface="Times New Roman" pitchFamily="18" charset="0"/>
              </a:rPr>
              <a:t>19. A. Hill, A. </a:t>
            </a:r>
            <a:r>
              <a:rPr lang="en-US" sz="1600" dirty="0" err="1" smtClean="0">
                <a:latin typeface="Times New Roman" pitchFamily="18" charset="0"/>
                <a:cs typeface="Times New Roman" pitchFamily="18" charset="0"/>
              </a:rPr>
              <a:t>Raffin</a:t>
            </a:r>
            <a:r>
              <a:rPr lang="en-US" sz="1600" dirty="0" smtClean="0">
                <a:latin typeface="Times New Roman" pitchFamily="18" charset="0"/>
                <a:cs typeface="Times New Roman" pitchFamily="18" charset="0"/>
              </a:rPr>
              <a:t>, M. </a:t>
            </a:r>
            <a:r>
              <a:rPr lang="en-US" sz="1600" dirty="0" err="1" smtClean="0">
                <a:latin typeface="Times New Roman" pitchFamily="18" charset="0"/>
                <a:cs typeface="Times New Roman" pitchFamily="18" charset="0"/>
              </a:rPr>
              <a:t>Ernestus</a:t>
            </a:r>
            <a:r>
              <a:rPr lang="en-US" sz="1600" dirty="0" smtClean="0">
                <a:latin typeface="Times New Roman" pitchFamily="18" charset="0"/>
                <a:cs typeface="Times New Roman" pitchFamily="18" charset="0"/>
              </a:rPr>
              <a:t>, A. </a:t>
            </a:r>
            <a:r>
              <a:rPr lang="en-US" sz="1600" dirty="0" err="1" smtClean="0">
                <a:latin typeface="Times New Roman" pitchFamily="18" charset="0"/>
                <a:cs typeface="Times New Roman" pitchFamily="18" charset="0"/>
              </a:rPr>
              <a:t>Gleave</a:t>
            </a:r>
            <a:r>
              <a:rPr lang="en-US" sz="1600" dirty="0" smtClean="0">
                <a:latin typeface="Times New Roman" pitchFamily="18" charset="0"/>
                <a:cs typeface="Times New Roman" pitchFamily="18" charset="0"/>
              </a:rPr>
              <a:t>, A. </a:t>
            </a:r>
            <a:r>
              <a:rPr lang="en-US" sz="1600" dirty="0" err="1" smtClean="0">
                <a:latin typeface="Times New Roman" pitchFamily="18" charset="0"/>
                <a:cs typeface="Times New Roman" pitchFamily="18" charset="0"/>
              </a:rPr>
              <a:t>Kanervisto</a:t>
            </a:r>
            <a:r>
              <a:rPr lang="en-US" sz="1600" dirty="0" smtClean="0">
                <a:latin typeface="Times New Roman" pitchFamily="18" charset="0"/>
                <a:cs typeface="Times New Roman" pitchFamily="18" charset="0"/>
              </a:rPr>
              <a:t>, R. </a:t>
            </a:r>
            <a:r>
              <a:rPr lang="en-US" sz="1600" dirty="0" err="1" smtClean="0">
                <a:latin typeface="Times New Roman" pitchFamily="18" charset="0"/>
                <a:cs typeface="Times New Roman" pitchFamily="18" charset="0"/>
              </a:rPr>
              <a:t>Traore</a:t>
            </a:r>
            <a:r>
              <a:rPr lang="en-US" sz="1600" dirty="0" smtClean="0">
                <a:latin typeface="Times New Roman" pitchFamily="18" charset="0"/>
                <a:cs typeface="Times New Roman" pitchFamily="18" charset="0"/>
              </a:rPr>
              <a:t>, P. </a:t>
            </a:r>
            <a:r>
              <a:rPr lang="en-US" sz="1600" dirty="0" err="1" smtClean="0">
                <a:latin typeface="Times New Roman" pitchFamily="18" charset="0"/>
                <a:cs typeface="Times New Roman" pitchFamily="18" charset="0"/>
              </a:rPr>
              <a:t>Dhariwal</a:t>
            </a:r>
            <a:r>
              <a:rPr lang="en-US" sz="1600" dirty="0" smtClean="0">
                <a:latin typeface="Times New Roman" pitchFamily="18" charset="0"/>
                <a:cs typeface="Times New Roman" pitchFamily="18" charset="0"/>
              </a:rPr>
              <a:t>, C. </a:t>
            </a:r>
            <a:r>
              <a:rPr lang="en-US" sz="1600" dirty="0" err="1" smtClean="0">
                <a:latin typeface="Times New Roman" pitchFamily="18" charset="0"/>
                <a:cs typeface="Times New Roman" pitchFamily="18" charset="0"/>
              </a:rPr>
              <a:t>Hesse</a:t>
            </a:r>
            <a:r>
              <a:rPr lang="en-US" sz="1600" dirty="0" smtClean="0">
                <a:latin typeface="Times New Roman" pitchFamily="18" charset="0"/>
                <a:cs typeface="Times New Roman" pitchFamily="18" charset="0"/>
              </a:rPr>
              <a:t>, O. </a:t>
            </a:r>
            <a:r>
              <a:rPr lang="en-US" sz="1600" dirty="0" err="1" smtClean="0">
                <a:latin typeface="Times New Roman" pitchFamily="18" charset="0"/>
                <a:cs typeface="Times New Roman" pitchFamily="18" charset="0"/>
              </a:rPr>
              <a:t>Klimov</a:t>
            </a:r>
            <a:r>
              <a:rPr lang="en-US" sz="1600" dirty="0" smtClean="0">
                <a:latin typeface="Times New Roman" pitchFamily="18" charset="0"/>
                <a:cs typeface="Times New Roman" pitchFamily="18" charset="0"/>
              </a:rPr>
              <a:t>, A. Nichol, M. </a:t>
            </a:r>
            <a:r>
              <a:rPr lang="en-US" sz="1600" dirty="0" err="1" smtClean="0">
                <a:latin typeface="Times New Roman" pitchFamily="18" charset="0"/>
                <a:cs typeface="Times New Roman" pitchFamily="18" charset="0"/>
              </a:rPr>
              <a:t>Plappert</a:t>
            </a:r>
            <a:r>
              <a:rPr lang="en-US" sz="1600" dirty="0" smtClean="0">
                <a:latin typeface="Times New Roman" pitchFamily="18" charset="0"/>
                <a:cs typeface="Times New Roman" pitchFamily="18" charset="0"/>
              </a:rPr>
              <a:t>, A. Radford,</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J. Schulman, S. </a:t>
            </a:r>
            <a:r>
              <a:rPr lang="en-US" sz="1600" dirty="0" err="1" smtClean="0">
                <a:latin typeface="Times New Roman" pitchFamily="18" charset="0"/>
                <a:cs typeface="Times New Roman" pitchFamily="18" charset="0"/>
              </a:rPr>
              <a:t>Sidor</a:t>
            </a:r>
            <a:r>
              <a:rPr lang="en-US" sz="1600" dirty="0" smtClean="0">
                <a:latin typeface="Times New Roman" pitchFamily="18" charset="0"/>
                <a:cs typeface="Times New Roman" pitchFamily="18" charset="0"/>
              </a:rPr>
              <a:t>, and Y. Wu, “Stable baselines,” https://github.com/hill-a/stable-baselines (2018)</a:t>
            </a:r>
          </a:p>
          <a:p>
            <a:pPr>
              <a:buNone/>
            </a:pPr>
            <a:endParaRPr lang="en-US" sz="800" dirty="0" smtClean="0">
              <a:latin typeface="Times New Roman" pitchFamily="18" charset="0"/>
              <a:cs typeface="Times New Roman" pitchFamily="18" charset="0"/>
            </a:endParaRPr>
          </a:p>
          <a:p>
            <a:pPr>
              <a:buNone/>
            </a:pPr>
            <a:endParaRPr lang="en-US" sz="800" dirty="0" smtClean="0">
              <a:latin typeface="Times New Roman" pitchFamily="18" charset="0"/>
              <a:cs typeface="Times New Roman" pitchFamily="18" charset="0"/>
            </a:endParaRPr>
          </a:p>
          <a:p>
            <a:pPr>
              <a:buFont typeface="Wingdings" pitchFamily="2" charset="2"/>
              <a:buChar char="Ø"/>
            </a:pPr>
            <a:endParaRPr lang="en-US" sz="800" dirty="0" smtClean="0">
              <a:latin typeface="Times New Roman" pitchFamily="18" charset="0"/>
              <a:cs typeface="Times New Roman" pitchFamily="18" charset="0"/>
            </a:endParaRPr>
          </a:p>
          <a:p>
            <a:pPr>
              <a:buFont typeface="Wingdings" pitchFamily="2" charset="2"/>
              <a:buChar char="Ø"/>
            </a:pPr>
            <a:endParaRPr lang="en-US" sz="2600" dirty="0" smtClean="0">
              <a:latin typeface="Times New Roman" pitchFamily="18" charset="0"/>
              <a:cs typeface="Times New Roman" pitchFamily="18" charset="0"/>
            </a:endParaRPr>
          </a:p>
          <a:p>
            <a:pPr>
              <a:buNone/>
            </a:pPr>
            <a:endParaRPr lang="en-US" sz="8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mj-lt"/>
                <a:cs typeface="Times New Roman" pitchFamily="18" charset="0"/>
              </a:rPr>
              <a:t>                                                                      </a:t>
            </a:r>
            <a:r>
              <a:rPr lang="en-US" sz="1500" dirty="0" smtClean="0">
                <a:latin typeface="+mj-lt"/>
                <a:cs typeface="Times New Roman" pitchFamily="18" charset="0"/>
              </a:rPr>
              <a:t>27</a:t>
            </a:r>
            <a:endParaRPr lang="en-US" sz="1500" dirty="0">
              <a:latin typeface="+mj-lt"/>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19"/>
            <a:ext cx="7467600" cy="45719"/>
          </a:xfrm>
        </p:spPr>
        <p:txBody>
          <a:bodyPr>
            <a:normAutofit fontScale="90000"/>
          </a:bodyPr>
          <a:lstStyle/>
          <a:p>
            <a:endParaRPr lang="en-IN" dirty="0"/>
          </a:p>
        </p:txBody>
      </p:sp>
      <p:pic>
        <p:nvPicPr>
          <p:cNvPr id="4" name="Content Placeholder 3"/>
          <p:cNvPicPr>
            <a:picLocks noGrp="1" noChangeAspect="1"/>
          </p:cNvPicPr>
          <p:nvPr>
            <p:ph sz="quarter" idx="1"/>
          </p:nvPr>
        </p:nvPicPr>
        <p:blipFill>
          <a:blip r:embed="rId2"/>
          <a:stretch>
            <a:fillRect/>
          </a:stretch>
        </p:blipFill>
        <p:spPr>
          <a:xfrm>
            <a:off x="1066800" y="1143000"/>
            <a:ext cx="6391275" cy="4495800"/>
          </a:xfrm>
          <a:prstGeom prst="rect">
            <a:avLst/>
          </a:prstGeom>
        </p:spPr>
      </p:pic>
    </p:spTree>
    <p:extLst>
      <p:ext uri="{BB962C8B-B14F-4D97-AF65-F5344CB8AC3E}">
        <p14:creationId xmlns:p14="http://schemas.microsoft.com/office/powerpoint/2010/main" val="283750603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4516</TotalTime>
  <Words>1835</Words>
  <Application>Microsoft Office PowerPoint</Application>
  <PresentationFormat>On-screen Show (4:3)</PresentationFormat>
  <Paragraphs>345</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Century Schoolbook</vt:lpstr>
      <vt:lpstr>Times New Roman</vt:lpstr>
      <vt:lpstr>Wingdings</vt:lpstr>
      <vt:lpstr>Wingdings 2</vt:lpstr>
      <vt:lpstr>Oriel</vt:lpstr>
      <vt:lpstr> Model Predictive Control Based Jumping of Robotic Leg on a Particular height using  Reinforcement Learning </vt:lpstr>
      <vt:lpstr>Content</vt:lpstr>
      <vt:lpstr>Introduction</vt:lpstr>
      <vt:lpstr>Introduction</vt:lpstr>
      <vt:lpstr>Introduction</vt:lpstr>
      <vt:lpstr>Introduction</vt:lpstr>
      <vt:lpstr>Introduction</vt:lpstr>
      <vt:lpstr>Objective</vt:lpstr>
      <vt:lpstr>Motivation</vt:lpstr>
      <vt:lpstr>Theoretical Background</vt:lpstr>
      <vt:lpstr>Theoretical Background</vt:lpstr>
      <vt:lpstr>Theoretical Background</vt:lpstr>
      <vt:lpstr>Theoretical Background</vt:lpstr>
      <vt:lpstr>Theoretical Background</vt:lpstr>
      <vt:lpstr>Theoretical Background</vt:lpstr>
      <vt:lpstr>Theoretical Background</vt:lpstr>
      <vt:lpstr>Methods</vt:lpstr>
      <vt:lpstr>Methods</vt:lpstr>
      <vt:lpstr>CLOSED LOOP  PROCESS Of REINFORCEMENT LEARNING: </vt:lpstr>
      <vt:lpstr>Methods</vt:lpstr>
      <vt:lpstr>Reinforcement Algorithm Used for Project</vt:lpstr>
      <vt:lpstr>Reward Function</vt:lpstr>
      <vt:lpstr>Conclusion</vt:lpstr>
      <vt:lpstr>Future Scope</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LEGGED LOCOMOTION USING REINFORCEMENT LEARNING</dc:title>
  <dc:creator>Windows User</dc:creator>
  <cp:lastModifiedBy>Lenovo</cp:lastModifiedBy>
  <cp:revision>552</cp:revision>
  <dcterms:created xsi:type="dcterms:W3CDTF">2021-09-24T15:53:55Z</dcterms:created>
  <dcterms:modified xsi:type="dcterms:W3CDTF">2024-11-01T09:15:28Z</dcterms:modified>
</cp:coreProperties>
</file>